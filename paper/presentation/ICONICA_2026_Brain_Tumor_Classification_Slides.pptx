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 id="2147483669"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3" r:id="rId18"/>
    <p:sldId id="274" r:id="rId19"/>
    <p:sldId id="271" r:id="rId20"/>
    <p:sldId id="272"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86"/>
    <p:restoredTop sz="76197"/>
  </p:normalViewPr>
  <p:slideViewPr>
    <p:cSldViewPr snapToGrid="0">
      <p:cViewPr varScale="1">
        <p:scale>
          <a:sx n="119" d="100"/>
          <a:sy n="119" d="100"/>
        </p:scale>
        <p:origin x="816"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af9ab104b5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g3af9ab104b5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f9ab104b5_2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g3af9ab104b5_2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f9ab104b5_2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af9ab104b5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f9ab104b5_2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3af9ab104b5_2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f9ab104b5_2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3af9ab104b5_2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af9ab104b5_2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af9ab104b5_2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f9ab104b5_2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af9ab104b5_2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f9ab104b5_2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g3af9ab104b5_2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af9ab104b5_2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3af9ab104b5_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af9ab104b5_2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g3af9ab104b5_2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af9ab104b5_2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g3af9ab104b5_2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af9ab104b5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g3af9ab104b5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af9ab104b5_2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3af9ab104b5_2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f9ab104b5_2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3af9ab104b5_2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af9ab104b5_2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3af9ab104b5_2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8CD97500-3BED-E617-9176-AA94DD5989C7}"/>
            </a:ext>
          </a:extLst>
        </p:cNvPr>
        <p:cNvGrpSpPr/>
        <p:nvPr/>
      </p:nvGrpSpPr>
      <p:grpSpPr>
        <a:xfrm>
          <a:off x="0" y="0"/>
          <a:ext cx="0" cy="0"/>
          <a:chOff x="0" y="0"/>
          <a:chExt cx="0" cy="0"/>
        </a:xfrm>
      </p:grpSpPr>
      <p:sp>
        <p:nvSpPr>
          <p:cNvPr id="215" name="Google Shape;215;g3af9ab104b5_2_155:notes">
            <a:extLst>
              <a:ext uri="{FF2B5EF4-FFF2-40B4-BE49-F238E27FC236}">
                <a16:creationId xmlns:a16="http://schemas.microsoft.com/office/drawing/2014/main" id="{AA4A7698-CCFB-B4B3-C85B-D665FAC44F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3af9ab104b5_2_155:notes">
            <a:extLst>
              <a:ext uri="{FF2B5EF4-FFF2-40B4-BE49-F238E27FC236}">
                <a16:creationId xmlns:a16="http://schemas.microsoft.com/office/drawing/2014/main" id="{2A317622-1C25-80AD-2AB1-53348EEE07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9844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E4850870-8542-C502-F928-D851C8CC42B8}"/>
            </a:ext>
          </a:extLst>
        </p:cNvPr>
        <p:cNvGrpSpPr/>
        <p:nvPr/>
      </p:nvGrpSpPr>
      <p:grpSpPr>
        <a:xfrm>
          <a:off x="0" y="0"/>
          <a:ext cx="0" cy="0"/>
          <a:chOff x="0" y="0"/>
          <a:chExt cx="0" cy="0"/>
        </a:xfrm>
      </p:grpSpPr>
      <p:sp>
        <p:nvSpPr>
          <p:cNvPr id="215" name="Google Shape;215;g3af9ab104b5_2_155:notes">
            <a:extLst>
              <a:ext uri="{FF2B5EF4-FFF2-40B4-BE49-F238E27FC236}">
                <a16:creationId xmlns:a16="http://schemas.microsoft.com/office/drawing/2014/main" id="{08F13634-BF9F-FACD-0F54-404A3B1035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3af9ab104b5_2_155:notes">
            <a:extLst>
              <a:ext uri="{FF2B5EF4-FFF2-40B4-BE49-F238E27FC236}">
                <a16:creationId xmlns:a16="http://schemas.microsoft.com/office/drawing/2014/main" id="{D10C0BB7-CB3E-9023-8689-A8F4FCD305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7440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af9ab104b5_2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3af9ab104b5_2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f9ab104b5_2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g3af9ab104b5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0" y="1415098"/>
            <a:ext cx="8520600" cy="1382175"/>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6" name="Google Shape;56;p14"/>
          <p:cNvSpPr txBox="1">
            <a:spLocks noGrp="1"/>
          </p:cNvSpPr>
          <p:nvPr>
            <p:ph type="subTitle" idx="1"/>
          </p:nvPr>
        </p:nvSpPr>
        <p:spPr>
          <a:xfrm>
            <a:off x="311700" y="2834125"/>
            <a:ext cx="8520600" cy="792675"/>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800"/>
              <a:buNone/>
              <a:defRPr sz="2800"/>
            </a:lvl1pPr>
            <a:lvl2pPr lvl="1" algn="ctr">
              <a:lnSpc>
                <a:spcPct val="100000"/>
              </a:lnSpc>
              <a:spcBef>
                <a:spcPts val="0"/>
              </a:spcBef>
              <a:spcAft>
                <a:spcPts val="0"/>
              </a:spcAft>
              <a:buClr>
                <a:srgbClr val="000000"/>
              </a:buClr>
              <a:buSzPts val="2800"/>
              <a:buNone/>
              <a:defRPr sz="2800"/>
            </a:lvl2pPr>
            <a:lvl3pPr lvl="2" algn="ctr">
              <a:lnSpc>
                <a:spcPct val="100000"/>
              </a:lnSpc>
              <a:spcBef>
                <a:spcPts val="0"/>
              </a:spcBef>
              <a:spcAft>
                <a:spcPts val="0"/>
              </a:spcAft>
              <a:buClr>
                <a:srgbClr val="000000"/>
              </a:buClr>
              <a:buSzPts val="2800"/>
              <a:buNone/>
              <a:defRPr sz="2800"/>
            </a:lvl3pPr>
            <a:lvl4pPr lvl="3" algn="ctr">
              <a:lnSpc>
                <a:spcPct val="100000"/>
              </a:lnSpc>
              <a:spcBef>
                <a:spcPts val="0"/>
              </a:spcBef>
              <a:spcAft>
                <a:spcPts val="0"/>
              </a:spcAft>
              <a:buClr>
                <a:srgbClr val="000000"/>
              </a:buClr>
              <a:buSzPts val="2800"/>
              <a:buNone/>
              <a:defRPr sz="2800"/>
            </a:lvl4pPr>
            <a:lvl5pPr lvl="4" algn="ctr">
              <a:lnSpc>
                <a:spcPct val="100000"/>
              </a:lnSpc>
              <a:spcBef>
                <a:spcPts val="0"/>
              </a:spcBef>
              <a:spcAft>
                <a:spcPts val="0"/>
              </a:spcAft>
              <a:buClr>
                <a:srgbClr val="000000"/>
              </a:buClr>
              <a:buSzPts val="2800"/>
              <a:buNone/>
              <a:defRPr sz="2800"/>
            </a:lvl5pPr>
            <a:lvl6pPr lvl="5" algn="ctr">
              <a:lnSpc>
                <a:spcPct val="100000"/>
              </a:lnSpc>
              <a:spcBef>
                <a:spcPts val="0"/>
              </a:spcBef>
              <a:spcAft>
                <a:spcPts val="0"/>
              </a:spcAft>
              <a:buClr>
                <a:srgbClr val="000000"/>
              </a:buClr>
              <a:buSzPts val="2800"/>
              <a:buNone/>
              <a:defRPr sz="2800"/>
            </a:lvl6pPr>
            <a:lvl7pPr lvl="6" algn="ctr">
              <a:lnSpc>
                <a:spcPct val="100000"/>
              </a:lnSpc>
              <a:spcBef>
                <a:spcPts val="0"/>
              </a:spcBef>
              <a:spcAft>
                <a:spcPts val="0"/>
              </a:spcAft>
              <a:buClr>
                <a:srgbClr val="000000"/>
              </a:buClr>
              <a:buSzPts val="2800"/>
              <a:buNone/>
              <a:defRPr sz="2800"/>
            </a:lvl7pPr>
            <a:lvl8pPr lvl="7" algn="ctr">
              <a:lnSpc>
                <a:spcPct val="100000"/>
              </a:lnSpc>
              <a:spcBef>
                <a:spcPts val="0"/>
              </a:spcBef>
              <a:spcAft>
                <a:spcPts val="0"/>
              </a:spcAft>
              <a:buClr>
                <a:srgbClr val="000000"/>
              </a:buClr>
              <a:buSzPts val="2800"/>
              <a:buNone/>
              <a:defRPr sz="2800"/>
            </a:lvl8pPr>
            <a:lvl9pPr lvl="8" algn="ctr">
              <a:lnSpc>
                <a:spcPct val="100000"/>
              </a:lnSpc>
              <a:spcBef>
                <a:spcPts val="0"/>
              </a:spcBef>
              <a:spcAft>
                <a:spcPts val="0"/>
              </a:spcAft>
              <a:buClr>
                <a:srgbClr val="000000"/>
              </a:buClr>
              <a:buSzPts val="2800"/>
              <a:buNone/>
              <a:defRPr sz="2800"/>
            </a:lvl9pPr>
          </a:lstStyle>
          <a:p>
            <a:endParaRPr/>
          </a:p>
        </p:txBody>
      </p:sp>
      <p:sp>
        <p:nvSpPr>
          <p:cNvPr id="57" name="Google Shape;57;p14"/>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8" name="Google Shape;58;p14"/>
          <p:cNvSpPr/>
          <p:nvPr/>
        </p:nvSpPr>
        <p:spPr>
          <a:xfrm flipH="1">
            <a:off x="18" y="50475"/>
            <a:ext cx="9143982" cy="1065191"/>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4"/>
          <p:cNvSpPr/>
          <p:nvPr/>
        </p:nvSpPr>
        <p:spPr>
          <a:xfrm flipH="1">
            <a:off x="18" y="0"/>
            <a:ext cx="9143982" cy="1065191"/>
          </a:xfrm>
          <a:prstGeom prst="flowChartDocumen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14"/>
          <p:cNvSpPr/>
          <p:nvPr/>
        </p:nvSpPr>
        <p:spPr>
          <a:xfrm>
            <a:off x="-11025" y="4439925"/>
            <a:ext cx="9155100" cy="70357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68300" algn="l">
              <a:lnSpc>
                <a:spcPct val="100000"/>
              </a:lnSpc>
              <a:spcBef>
                <a:spcPts val="0"/>
              </a:spcBef>
              <a:spcAft>
                <a:spcPts val="0"/>
              </a:spcAft>
              <a:buClr>
                <a:srgbClr val="000000"/>
              </a:buClr>
              <a:buSzPts val="2200"/>
              <a:buChar char="●"/>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64" name="Google Shape;64;p15"/>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5"/>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15"/>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5"/>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311700" y="2150850"/>
            <a:ext cx="8520600" cy="841725"/>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000000"/>
              </a:buClr>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0" name="Google Shape;70;p16"/>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6"/>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6"/>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73" name="Google Shape;73;p16"/>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6"/>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6"/>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555600"/>
            <a:ext cx="2808000" cy="755775"/>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8" name="Google Shape;78;p17"/>
          <p:cNvSpPr txBox="1">
            <a:spLocks noGrp="1"/>
          </p:cNvSpPr>
          <p:nvPr>
            <p:ph type="body" idx="1"/>
          </p:nvPr>
        </p:nvSpPr>
        <p:spPr>
          <a:xfrm>
            <a:off x="311700" y="1389600"/>
            <a:ext cx="2808000" cy="3179475"/>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rgbClr val="000000"/>
              </a:buClr>
              <a:buSzPts val="1200"/>
              <a:buChar char="●"/>
              <a:defRPr sz="1200"/>
            </a:lvl1pPr>
            <a:lvl2pPr marL="914400" lvl="1" indent="-304800" algn="l">
              <a:lnSpc>
                <a:spcPct val="100000"/>
              </a:lnSpc>
              <a:spcBef>
                <a:spcPts val="600"/>
              </a:spcBef>
              <a:spcAft>
                <a:spcPts val="0"/>
              </a:spcAft>
              <a:buClr>
                <a:srgbClr val="000000"/>
              </a:buClr>
              <a:buSzPts val="1200"/>
              <a:buChar char="○"/>
              <a:defRPr sz="1200"/>
            </a:lvl2pPr>
            <a:lvl3pPr marL="1371600" lvl="2" indent="-304800" algn="l">
              <a:lnSpc>
                <a:spcPct val="100000"/>
              </a:lnSpc>
              <a:spcBef>
                <a:spcPts val="600"/>
              </a:spcBef>
              <a:spcAft>
                <a:spcPts val="0"/>
              </a:spcAft>
              <a:buClr>
                <a:srgbClr val="000000"/>
              </a:buClr>
              <a:buSzPts val="1200"/>
              <a:buChar char="■"/>
              <a:defRPr sz="1200"/>
            </a:lvl3pPr>
            <a:lvl4pPr marL="1828800" lvl="3" indent="-304800" algn="l">
              <a:lnSpc>
                <a:spcPct val="100000"/>
              </a:lnSpc>
              <a:spcBef>
                <a:spcPts val="600"/>
              </a:spcBef>
              <a:spcAft>
                <a:spcPts val="0"/>
              </a:spcAft>
              <a:buClr>
                <a:srgbClr val="000000"/>
              </a:buClr>
              <a:buSzPts val="1200"/>
              <a:buChar char="●"/>
              <a:defRPr sz="1200"/>
            </a:lvl4pPr>
            <a:lvl5pPr marL="2286000" lvl="4" indent="-304800" algn="l">
              <a:lnSpc>
                <a:spcPct val="100000"/>
              </a:lnSpc>
              <a:spcBef>
                <a:spcPts val="600"/>
              </a:spcBef>
              <a:spcAft>
                <a:spcPts val="0"/>
              </a:spcAft>
              <a:buClr>
                <a:srgbClr val="000000"/>
              </a:buClr>
              <a:buSzPts val="1200"/>
              <a:buChar char="○"/>
              <a:defRPr sz="1200"/>
            </a:lvl5pPr>
            <a:lvl6pPr marL="2743200" lvl="5" indent="-304800" algn="l">
              <a:lnSpc>
                <a:spcPct val="100000"/>
              </a:lnSpc>
              <a:spcBef>
                <a:spcPts val="600"/>
              </a:spcBef>
              <a:spcAft>
                <a:spcPts val="0"/>
              </a:spcAft>
              <a:buClr>
                <a:srgbClr val="000000"/>
              </a:buClr>
              <a:buSzPts val="1200"/>
              <a:buChar char="■"/>
              <a:defRPr sz="1200"/>
            </a:lvl6pPr>
            <a:lvl7pPr marL="3200400" lvl="6" indent="-304800" algn="l">
              <a:lnSpc>
                <a:spcPct val="100000"/>
              </a:lnSpc>
              <a:spcBef>
                <a:spcPts val="600"/>
              </a:spcBef>
              <a:spcAft>
                <a:spcPts val="0"/>
              </a:spcAft>
              <a:buClr>
                <a:srgbClr val="000000"/>
              </a:buClr>
              <a:buSzPts val="1200"/>
              <a:buChar char="●"/>
              <a:defRPr sz="1200"/>
            </a:lvl7pPr>
            <a:lvl8pPr marL="3657600" lvl="7" indent="-304800" algn="l">
              <a:lnSpc>
                <a:spcPct val="100000"/>
              </a:lnSpc>
              <a:spcBef>
                <a:spcPts val="600"/>
              </a:spcBef>
              <a:spcAft>
                <a:spcPts val="0"/>
              </a:spcAft>
              <a:buClr>
                <a:srgbClr val="000000"/>
              </a:buClr>
              <a:buSzPts val="1200"/>
              <a:buChar char="○"/>
              <a:defRPr sz="1200"/>
            </a:lvl8pPr>
            <a:lvl9pPr marL="4114800" lvl="8" indent="-304800" algn="l">
              <a:lnSpc>
                <a:spcPct val="100000"/>
              </a:lnSpc>
              <a:spcBef>
                <a:spcPts val="600"/>
              </a:spcBef>
              <a:spcAft>
                <a:spcPts val="600"/>
              </a:spcAft>
              <a:buClr>
                <a:srgbClr val="000000"/>
              </a:buClr>
              <a:buSzPts val="1200"/>
              <a:buChar char="■"/>
              <a:defRPr sz="1200"/>
            </a:lvl9pPr>
          </a:lstStyle>
          <a:p>
            <a:endParaRPr/>
          </a:p>
        </p:txBody>
      </p:sp>
      <p:sp>
        <p:nvSpPr>
          <p:cNvPr id="79" name="Google Shape;79;p17"/>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0" name="Google Shape;80;p17"/>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7"/>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82" name="Google Shape;82;p17"/>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7"/>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7"/>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90250" y="450150"/>
            <a:ext cx="6367800" cy="4090725"/>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7" name="Google Shape;87;p18"/>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8" name="Google Shape;88;p18"/>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8"/>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90" name="Google Shape;90;p18"/>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8"/>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8"/>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3"/>
        <p:cNvGrpSpPr/>
        <p:nvPr/>
      </p:nvGrpSpPr>
      <p:grpSpPr>
        <a:xfrm>
          <a:off x="0" y="0"/>
          <a:ext cx="0" cy="0"/>
          <a:chOff x="0" y="0"/>
          <a:chExt cx="0" cy="0"/>
        </a:xfrm>
      </p:grpSpPr>
      <p:sp>
        <p:nvSpPr>
          <p:cNvPr id="94" name="Google Shape;94;p1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p19"/>
          <p:cNvSpPr txBox="1">
            <a:spLocks noGrp="1"/>
          </p:cNvSpPr>
          <p:nvPr>
            <p:ph type="subTitle" idx="1"/>
          </p:nvPr>
        </p:nvSpPr>
        <p:spPr>
          <a:xfrm>
            <a:off x="265500" y="2803075"/>
            <a:ext cx="4045200" cy="1235025"/>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100"/>
              <a:buNone/>
              <a:defRPr sz="2100"/>
            </a:lvl1pPr>
            <a:lvl2pPr lvl="1" algn="ctr">
              <a:lnSpc>
                <a:spcPct val="100000"/>
              </a:lnSpc>
              <a:spcBef>
                <a:spcPts val="0"/>
              </a:spcBef>
              <a:spcAft>
                <a:spcPts val="0"/>
              </a:spcAft>
              <a:buClr>
                <a:srgbClr val="000000"/>
              </a:buClr>
              <a:buSzPts val="2100"/>
              <a:buNone/>
              <a:defRPr sz="2100"/>
            </a:lvl2pPr>
            <a:lvl3pPr lvl="2" algn="ctr">
              <a:lnSpc>
                <a:spcPct val="100000"/>
              </a:lnSpc>
              <a:spcBef>
                <a:spcPts val="0"/>
              </a:spcBef>
              <a:spcAft>
                <a:spcPts val="0"/>
              </a:spcAft>
              <a:buClr>
                <a:srgbClr val="000000"/>
              </a:buClr>
              <a:buSzPts val="2100"/>
              <a:buNone/>
              <a:defRPr sz="2100"/>
            </a:lvl3pPr>
            <a:lvl4pPr lvl="3" algn="ctr">
              <a:lnSpc>
                <a:spcPct val="100000"/>
              </a:lnSpc>
              <a:spcBef>
                <a:spcPts val="0"/>
              </a:spcBef>
              <a:spcAft>
                <a:spcPts val="0"/>
              </a:spcAft>
              <a:buClr>
                <a:srgbClr val="000000"/>
              </a:buClr>
              <a:buSzPts val="2100"/>
              <a:buNone/>
              <a:defRPr sz="2100"/>
            </a:lvl4pPr>
            <a:lvl5pPr lvl="4" algn="ctr">
              <a:lnSpc>
                <a:spcPct val="100000"/>
              </a:lnSpc>
              <a:spcBef>
                <a:spcPts val="0"/>
              </a:spcBef>
              <a:spcAft>
                <a:spcPts val="0"/>
              </a:spcAft>
              <a:buClr>
                <a:srgbClr val="000000"/>
              </a:buClr>
              <a:buSzPts val="2100"/>
              <a:buNone/>
              <a:defRPr sz="2100"/>
            </a:lvl5pPr>
            <a:lvl6pPr lvl="5" algn="ctr">
              <a:lnSpc>
                <a:spcPct val="100000"/>
              </a:lnSpc>
              <a:spcBef>
                <a:spcPts val="0"/>
              </a:spcBef>
              <a:spcAft>
                <a:spcPts val="0"/>
              </a:spcAft>
              <a:buClr>
                <a:srgbClr val="000000"/>
              </a:buClr>
              <a:buSzPts val="2100"/>
              <a:buNone/>
              <a:defRPr sz="2100"/>
            </a:lvl6pPr>
            <a:lvl7pPr lvl="6" algn="ctr">
              <a:lnSpc>
                <a:spcPct val="100000"/>
              </a:lnSpc>
              <a:spcBef>
                <a:spcPts val="0"/>
              </a:spcBef>
              <a:spcAft>
                <a:spcPts val="0"/>
              </a:spcAft>
              <a:buClr>
                <a:srgbClr val="000000"/>
              </a:buClr>
              <a:buSzPts val="2100"/>
              <a:buNone/>
              <a:defRPr sz="2100"/>
            </a:lvl7pPr>
            <a:lvl8pPr lvl="7" algn="ctr">
              <a:lnSpc>
                <a:spcPct val="100000"/>
              </a:lnSpc>
              <a:spcBef>
                <a:spcPts val="0"/>
              </a:spcBef>
              <a:spcAft>
                <a:spcPts val="0"/>
              </a:spcAft>
              <a:buClr>
                <a:srgbClr val="000000"/>
              </a:buClr>
              <a:buSzPts val="2100"/>
              <a:buNone/>
              <a:defRPr sz="2100"/>
            </a:lvl8pPr>
            <a:lvl9pPr lvl="8" algn="ctr">
              <a:lnSpc>
                <a:spcPct val="100000"/>
              </a:lnSpc>
              <a:spcBef>
                <a:spcPts val="0"/>
              </a:spcBef>
              <a:spcAft>
                <a:spcPts val="0"/>
              </a:spcAft>
              <a:buClr>
                <a:srgbClr val="000000"/>
              </a:buClr>
              <a:buSzPts val="2100"/>
              <a:buNone/>
              <a:defRPr sz="2100"/>
            </a:lvl9pPr>
          </a:lstStyle>
          <a:p>
            <a:endParaRPr/>
          </a:p>
        </p:txBody>
      </p:sp>
      <p:sp>
        <p:nvSpPr>
          <p:cNvPr id="97" name="Google Shape;97;p19"/>
          <p:cNvSpPr txBox="1">
            <a:spLocks noGrp="1"/>
          </p:cNvSpPr>
          <p:nvPr>
            <p:ph type="body" idx="2"/>
          </p:nvPr>
        </p:nvSpPr>
        <p:spPr>
          <a:xfrm>
            <a:off x="4939500" y="724075"/>
            <a:ext cx="3837000" cy="3695175"/>
          </a:xfrm>
          <a:prstGeom prst="rect">
            <a:avLst/>
          </a:prstGeom>
          <a:noFill/>
          <a:ln>
            <a:noFill/>
          </a:ln>
        </p:spPr>
        <p:txBody>
          <a:bodyPr spcFirstLastPara="1" wrap="square" lIns="91425" tIns="91425" rIns="91425" bIns="91425" anchor="ctr" anchorCtr="0">
            <a:noAutofit/>
          </a:bodyPr>
          <a:lstStyle>
            <a:lvl1pPr marL="457200" lvl="0" indent="-368300" algn="l">
              <a:lnSpc>
                <a:spcPct val="100000"/>
              </a:lnSpc>
              <a:spcBef>
                <a:spcPts val="0"/>
              </a:spcBef>
              <a:spcAft>
                <a:spcPts val="0"/>
              </a:spcAft>
              <a:buClr>
                <a:srgbClr val="000000"/>
              </a:buClr>
              <a:buSzPts val="2200"/>
              <a:buChar char="●"/>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98" name="Google Shape;98;p19"/>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9" name="Google Shape;99;p19"/>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9"/>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01" name="Google Shape;101;p19"/>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9"/>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4"/>
        <p:cNvGrpSpPr/>
        <p:nvPr/>
      </p:nvGrpSpPr>
      <p:grpSpPr>
        <a:xfrm>
          <a:off x="0" y="0"/>
          <a:ext cx="0" cy="0"/>
          <a:chOff x="0" y="0"/>
          <a:chExt cx="0" cy="0"/>
        </a:xfrm>
      </p:grpSpPr>
      <p:sp>
        <p:nvSpPr>
          <p:cNvPr id="105" name="Google Shape;105;p20"/>
          <p:cNvSpPr txBox="1">
            <a:spLocks noGrp="1"/>
          </p:cNvSpPr>
          <p:nvPr>
            <p:ph type="body" idx="1"/>
          </p:nvPr>
        </p:nvSpPr>
        <p:spPr>
          <a:xfrm>
            <a:off x="311700" y="4230575"/>
            <a:ext cx="5998800" cy="605025"/>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rgbClr val="000000"/>
              </a:buClr>
              <a:buSzPts val="2200"/>
              <a:buNone/>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106" name="Google Shape;106;p20"/>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7" name="Google Shape;107;p20"/>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20"/>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09" name="Google Shape;109;p20"/>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20"/>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0"/>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311700" y="1106125"/>
            <a:ext cx="8520600" cy="1963575"/>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114" name="Google Shape;114;p21"/>
          <p:cNvSpPr txBox="1">
            <a:spLocks noGrp="1"/>
          </p:cNvSpPr>
          <p:nvPr>
            <p:ph type="body" idx="1"/>
          </p:nvPr>
        </p:nvSpPr>
        <p:spPr>
          <a:xfrm>
            <a:off x="311700" y="3152225"/>
            <a:ext cx="8520600" cy="1300725"/>
          </a:xfrm>
          <a:prstGeom prst="rect">
            <a:avLst/>
          </a:prstGeom>
          <a:noFill/>
          <a:ln>
            <a:noFill/>
          </a:ln>
        </p:spPr>
        <p:txBody>
          <a:bodyPr spcFirstLastPara="1" wrap="square" lIns="91425" tIns="91425" rIns="91425" bIns="91425" anchor="t" anchorCtr="0">
            <a:noAutofit/>
          </a:bodyPr>
          <a:lstStyle>
            <a:lvl1pPr marL="457200" lvl="0" indent="-368300" algn="ctr">
              <a:lnSpc>
                <a:spcPct val="100000"/>
              </a:lnSpc>
              <a:spcBef>
                <a:spcPts val="0"/>
              </a:spcBef>
              <a:spcAft>
                <a:spcPts val="0"/>
              </a:spcAft>
              <a:buClr>
                <a:srgbClr val="000000"/>
              </a:buClr>
              <a:buSzPts val="2200"/>
              <a:buChar char="●"/>
              <a:defRPr/>
            </a:lvl1pPr>
            <a:lvl2pPr marL="914400" lvl="1" indent="-342900" algn="ctr">
              <a:lnSpc>
                <a:spcPct val="100000"/>
              </a:lnSpc>
              <a:spcBef>
                <a:spcPts val="600"/>
              </a:spcBef>
              <a:spcAft>
                <a:spcPts val="0"/>
              </a:spcAft>
              <a:buClr>
                <a:srgbClr val="000000"/>
              </a:buClr>
              <a:buSzPts val="1800"/>
              <a:buChar char="○"/>
              <a:defRPr/>
            </a:lvl2pPr>
            <a:lvl3pPr marL="1371600" lvl="2" indent="-342900" algn="ctr">
              <a:lnSpc>
                <a:spcPct val="100000"/>
              </a:lnSpc>
              <a:spcBef>
                <a:spcPts val="600"/>
              </a:spcBef>
              <a:spcAft>
                <a:spcPts val="0"/>
              </a:spcAft>
              <a:buClr>
                <a:srgbClr val="000000"/>
              </a:buClr>
              <a:buSzPts val="1800"/>
              <a:buChar char="■"/>
              <a:defRPr/>
            </a:lvl3pPr>
            <a:lvl4pPr marL="1828800" lvl="3" indent="-342900" algn="ctr">
              <a:lnSpc>
                <a:spcPct val="100000"/>
              </a:lnSpc>
              <a:spcBef>
                <a:spcPts val="600"/>
              </a:spcBef>
              <a:spcAft>
                <a:spcPts val="0"/>
              </a:spcAft>
              <a:buClr>
                <a:srgbClr val="000000"/>
              </a:buClr>
              <a:buSzPts val="1800"/>
              <a:buChar char="●"/>
              <a:defRPr/>
            </a:lvl4pPr>
            <a:lvl5pPr marL="2286000" lvl="4" indent="-342900" algn="ctr">
              <a:lnSpc>
                <a:spcPct val="100000"/>
              </a:lnSpc>
              <a:spcBef>
                <a:spcPts val="600"/>
              </a:spcBef>
              <a:spcAft>
                <a:spcPts val="0"/>
              </a:spcAft>
              <a:buClr>
                <a:srgbClr val="000000"/>
              </a:buClr>
              <a:buSzPts val="1800"/>
              <a:buChar char="○"/>
              <a:defRPr/>
            </a:lvl5pPr>
            <a:lvl6pPr marL="2743200" lvl="5" indent="-342900" algn="ctr">
              <a:lnSpc>
                <a:spcPct val="100000"/>
              </a:lnSpc>
              <a:spcBef>
                <a:spcPts val="600"/>
              </a:spcBef>
              <a:spcAft>
                <a:spcPts val="0"/>
              </a:spcAft>
              <a:buClr>
                <a:srgbClr val="000000"/>
              </a:buClr>
              <a:buSzPts val="1800"/>
              <a:buChar char="■"/>
              <a:defRPr/>
            </a:lvl6pPr>
            <a:lvl7pPr marL="3200400" lvl="6" indent="-342900" algn="ctr">
              <a:lnSpc>
                <a:spcPct val="100000"/>
              </a:lnSpc>
              <a:spcBef>
                <a:spcPts val="600"/>
              </a:spcBef>
              <a:spcAft>
                <a:spcPts val="0"/>
              </a:spcAft>
              <a:buClr>
                <a:srgbClr val="000000"/>
              </a:buClr>
              <a:buSzPts val="1800"/>
              <a:buChar char="●"/>
              <a:defRPr/>
            </a:lvl7pPr>
            <a:lvl8pPr marL="3657600" lvl="7" indent="-342900" algn="ctr">
              <a:lnSpc>
                <a:spcPct val="100000"/>
              </a:lnSpc>
              <a:spcBef>
                <a:spcPts val="600"/>
              </a:spcBef>
              <a:spcAft>
                <a:spcPts val="0"/>
              </a:spcAft>
              <a:buClr>
                <a:srgbClr val="000000"/>
              </a:buClr>
              <a:buSzPts val="1800"/>
              <a:buChar char="○"/>
              <a:defRPr/>
            </a:lvl8pPr>
            <a:lvl9pPr marL="4114800" lvl="8" indent="-342900" algn="ctr">
              <a:lnSpc>
                <a:spcPct val="100000"/>
              </a:lnSpc>
              <a:spcBef>
                <a:spcPts val="600"/>
              </a:spcBef>
              <a:spcAft>
                <a:spcPts val="600"/>
              </a:spcAft>
              <a:buClr>
                <a:srgbClr val="000000"/>
              </a:buClr>
              <a:buSzPts val="1800"/>
              <a:buChar char="■"/>
              <a:defRPr/>
            </a:lvl9pPr>
          </a:lstStyle>
          <a:p>
            <a:endParaRPr/>
          </a:p>
        </p:txBody>
      </p:sp>
      <p:sp>
        <p:nvSpPr>
          <p:cNvPr id="115" name="Google Shape;115;p21"/>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6" name="Google Shape;116;p21"/>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21"/>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18" name="Google Shape;118;p21"/>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21"/>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1"/>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p22"/>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3" name="Google Shape;123;p22"/>
          <p:cNvSpPr/>
          <p:nvPr/>
        </p:nvSpPr>
        <p:spPr>
          <a:xfrm>
            <a:off x="-11025" y="4760831"/>
            <a:ext cx="9155100" cy="3827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22"/>
          <p:cNvSpPr txBox="1"/>
          <p:nvPr/>
        </p:nvSpPr>
        <p:spPr>
          <a:xfrm>
            <a:off x="3343200" y="4823355"/>
            <a:ext cx="2457600" cy="217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25" name="Google Shape;125;p22"/>
          <p:cNvSpPr/>
          <p:nvPr/>
        </p:nvSpPr>
        <p:spPr>
          <a:xfrm rot="10800000">
            <a:off x="6945800" y="206"/>
            <a:ext cx="2207100" cy="4610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22"/>
          <p:cNvSpPr/>
          <p:nvPr/>
        </p:nvSpPr>
        <p:spPr>
          <a:xfrm rot="10800000">
            <a:off x="-2200" y="-19"/>
            <a:ext cx="9155100" cy="2736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22"/>
          <p:cNvSpPr txBox="1"/>
          <p:nvPr/>
        </p:nvSpPr>
        <p:spPr>
          <a:xfrm>
            <a:off x="6945800" y="186071"/>
            <a:ext cx="2207100" cy="1734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 sz="1400" b="0" i="0" u="none" strike="noStrike" cap="none">
                <a:solidFill>
                  <a:srgbClr val="FFFFFF"/>
                </a:solidFill>
                <a:latin typeface="Georgia"/>
                <a:ea typeface="Georgia"/>
                <a:cs typeface="Georgia"/>
                <a:sym typeface="Georgia"/>
              </a:rPr>
              <a:t>CHRIST</a:t>
            </a:r>
            <a:br>
              <a:rPr lang="en" sz="1400" b="0" i="0" u="none" strike="noStrike" cap="none">
                <a:solidFill>
                  <a:srgbClr val="FFFFFF"/>
                </a:solidFill>
                <a:latin typeface="Georgia"/>
                <a:ea typeface="Georgia"/>
                <a:cs typeface="Georgia"/>
                <a:sym typeface="Georgia"/>
              </a:rPr>
            </a:br>
            <a:r>
              <a:rPr lang="en"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53" name="Google Shape;53;p13"/>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kaggle.com/datasets/mohammadhossein77/brain-tumors-datase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3" name="Google Shape;133;p23"/>
          <p:cNvSpPr txBox="1">
            <a:spLocks noGrp="1"/>
          </p:cNvSpPr>
          <p:nvPr>
            <p:ph type="subTitle" idx="1"/>
          </p:nvPr>
        </p:nvSpPr>
        <p:spPr>
          <a:xfrm>
            <a:off x="392620" y="1455049"/>
            <a:ext cx="8520600" cy="792600"/>
          </a:xfrm>
          <a:prstGeom prst="rect">
            <a:avLst/>
          </a:prstGeom>
          <a:noFill/>
          <a:ln>
            <a:noFill/>
          </a:ln>
        </p:spPr>
        <p:txBody>
          <a:bodyPr spcFirstLastPara="1" wrap="square" lIns="91425" tIns="91425" rIns="91425" bIns="91425" anchor="t" anchorCtr="0">
            <a:noAutofit/>
          </a:bodyPr>
          <a:lstStyle/>
          <a:p>
            <a:pPr algn="ctr"/>
            <a:r>
              <a:rPr lang="en-IN" sz="2400" b="1" i="0" dirty="0">
                <a:solidFill>
                  <a:schemeClr val="tx1"/>
                </a:solidFill>
                <a:effectLst/>
                <a:latin typeface="Times New Roman" panose="02020603050405020304" pitchFamily="18" charset="0"/>
                <a:cs typeface="Times New Roman" panose="02020603050405020304" pitchFamily="18" charset="0"/>
              </a:rPr>
              <a:t>International Conference on</a:t>
            </a:r>
            <a:br>
              <a:rPr lang="en-IN" sz="2400" b="1" i="0" dirty="0">
                <a:solidFill>
                  <a:schemeClr val="tx1"/>
                </a:solidFill>
                <a:effectLst/>
                <a:latin typeface="Times New Roman" panose="02020603050405020304" pitchFamily="18" charset="0"/>
                <a:cs typeface="Times New Roman" panose="02020603050405020304" pitchFamily="18" charset="0"/>
              </a:rPr>
            </a:br>
            <a:r>
              <a:rPr lang="en-IN" sz="2400" b="1" i="0" dirty="0">
                <a:solidFill>
                  <a:schemeClr val="tx1"/>
                </a:solidFill>
                <a:effectLst/>
                <a:latin typeface="Times New Roman" panose="02020603050405020304" pitchFamily="18" charset="0"/>
                <a:cs typeface="Times New Roman" panose="02020603050405020304" pitchFamily="18" charset="0"/>
              </a:rPr>
              <a:t>Next-Gen Intelligent Computing and Applications</a:t>
            </a:r>
          </a:p>
          <a:p>
            <a:pPr algn="ctr"/>
            <a:r>
              <a:rPr lang="en" sz="2000" b="1" dirty="0">
                <a:latin typeface="Times New Roman" panose="02020603050405020304" pitchFamily="18" charset="0"/>
                <a:cs typeface="Times New Roman" panose="02020603050405020304" pitchFamily="18" charset="0"/>
              </a:rPr>
              <a:t>(ICONICA 2026)</a:t>
            </a:r>
          </a:p>
          <a:p>
            <a:pPr algn="ctr"/>
            <a:endParaRPr lang="en-IN" sz="2400" b="1" i="0" dirty="0">
              <a:solidFill>
                <a:schemeClr val="tx1"/>
              </a:solidFill>
              <a:effectLst/>
              <a:latin typeface="Times New Roman" panose="02020603050405020304" pitchFamily="18" charset="0"/>
              <a:cs typeface="Times New Roman" panose="02020603050405020304" pitchFamily="18" charset="0"/>
            </a:endParaRPr>
          </a:p>
          <a:p>
            <a:pPr marL="457200" lvl="0" indent="-368300" algn="ctr" rtl="0">
              <a:lnSpc>
                <a:spcPct val="100000"/>
              </a:lnSpc>
              <a:spcBef>
                <a:spcPts val="0"/>
              </a:spcBef>
              <a:spcAft>
                <a:spcPts val="0"/>
              </a:spcAft>
              <a:buClr>
                <a:srgbClr val="000000"/>
              </a:buClr>
              <a:buSzPts val="2800"/>
              <a:buNone/>
            </a:pPr>
            <a:r>
              <a:rPr lang="en-IN" sz="1800" dirty="0">
                <a:latin typeface="Times New Roman" panose="02020603050405020304" pitchFamily="18" charset="0"/>
                <a:cs typeface="Times New Roman" panose="02020603050405020304" pitchFamily="18" charset="0"/>
              </a:rPr>
              <a:t>C</a:t>
            </a:r>
            <a:r>
              <a:rPr lang="en" sz="1800" dirty="0">
                <a:latin typeface="Times New Roman" panose="02020603050405020304" pitchFamily="18" charset="0"/>
                <a:cs typeface="Times New Roman" panose="02020603050405020304" pitchFamily="18" charset="0"/>
              </a:rPr>
              <a:t>HRIST (DEEMED TO BE UNIVERSITY)</a:t>
            </a:r>
            <a:endParaRPr sz="1800" dirty="0">
              <a:latin typeface="Times New Roman" panose="02020603050405020304" pitchFamily="18" charset="0"/>
              <a:cs typeface="Times New Roman" panose="02020603050405020304" pitchFamily="18" charset="0"/>
            </a:endParaRPr>
          </a:p>
          <a:p>
            <a:pPr marL="457200" lvl="0" indent="-368300" algn="ctr" rtl="0">
              <a:lnSpc>
                <a:spcPct val="100000"/>
              </a:lnSpc>
              <a:spcBef>
                <a:spcPts val="0"/>
              </a:spcBef>
              <a:spcAft>
                <a:spcPts val="0"/>
              </a:spcAft>
              <a:buClr>
                <a:srgbClr val="000000"/>
              </a:buClr>
              <a:buSzPts val="2800"/>
              <a:buNone/>
            </a:pPr>
            <a:r>
              <a:rPr lang="en" sz="1800" dirty="0">
                <a:latin typeface="Times New Roman" panose="02020603050405020304" pitchFamily="18" charset="0"/>
                <a:cs typeface="Times New Roman" panose="02020603050405020304" pitchFamily="18" charset="0"/>
              </a:rPr>
              <a:t>Bangalore Central Campus</a:t>
            </a:r>
          </a:p>
          <a:p>
            <a:pPr marL="457200" lvl="0" indent="-368300" algn="ctr" rtl="0">
              <a:lnSpc>
                <a:spcPct val="100000"/>
              </a:lnSpc>
              <a:spcBef>
                <a:spcPts val="0"/>
              </a:spcBef>
              <a:spcAft>
                <a:spcPts val="0"/>
              </a:spcAft>
              <a:buClr>
                <a:srgbClr val="000000"/>
              </a:buClr>
              <a:buSzPts val="2800"/>
              <a:buNone/>
            </a:pPr>
            <a:endParaRPr lang="en" sz="1800" dirty="0">
              <a:latin typeface="Times New Roman" panose="02020603050405020304" pitchFamily="18" charset="0"/>
              <a:cs typeface="Times New Roman" panose="02020603050405020304" pitchFamily="18" charset="0"/>
            </a:endParaRPr>
          </a:p>
          <a:p>
            <a:r>
              <a:rPr lang="en" sz="1600" dirty="0">
                <a:latin typeface="Times New Roman" panose="02020603050405020304" pitchFamily="18" charset="0"/>
                <a:cs typeface="Times New Roman" panose="02020603050405020304" pitchFamily="18" charset="0"/>
              </a:rPr>
              <a:t>28-29 August 2026</a:t>
            </a:r>
          </a:p>
          <a:p>
            <a:pPr marL="457200" lvl="0" indent="-368300" algn="ctr" rtl="0">
              <a:lnSpc>
                <a:spcPct val="100000"/>
              </a:lnSpc>
              <a:spcBef>
                <a:spcPts val="0"/>
              </a:spcBef>
              <a:spcAft>
                <a:spcPts val="0"/>
              </a:spcAft>
              <a:buClr>
                <a:srgbClr val="000000"/>
              </a:buClr>
              <a:buSzPts val="2800"/>
              <a:buNone/>
            </a:pPr>
            <a:endParaRPr lang="en" sz="2000" dirty="0"/>
          </a:p>
          <a:p>
            <a:pPr marL="457200" lvl="0" indent="-368300" algn="ctr" rtl="0">
              <a:lnSpc>
                <a:spcPct val="100000"/>
              </a:lnSpc>
              <a:spcBef>
                <a:spcPts val="0"/>
              </a:spcBef>
              <a:spcAft>
                <a:spcPts val="0"/>
              </a:spcAft>
              <a:buClr>
                <a:srgbClr val="000000"/>
              </a:buClr>
              <a:buSzPts val="2800"/>
              <a:buNone/>
            </a:pPr>
            <a:endParaRPr sz="2000" dirty="0"/>
          </a:p>
        </p:txBody>
      </p:sp>
      <p:pic>
        <p:nvPicPr>
          <p:cNvPr id="1026" name="Picture 2">
            <a:extLst>
              <a:ext uri="{FF2B5EF4-FFF2-40B4-BE49-F238E27FC236}">
                <a16:creationId xmlns:a16="http://schemas.microsoft.com/office/drawing/2014/main" id="{049A3310-4F6A-E4BD-7E7E-95080050F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5334" y="99023"/>
            <a:ext cx="1701049" cy="5741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80492EA6-406B-65D7-A60A-204429951CA1}"/>
              </a:ext>
            </a:extLst>
          </p:cNvPr>
          <p:cNvPicPr>
            <a:picLocks noChangeAspect="1"/>
          </p:cNvPicPr>
          <p:nvPr/>
        </p:nvPicPr>
        <p:blipFill>
          <a:blip r:embed="rId4"/>
          <a:stretch>
            <a:fillRect/>
          </a:stretch>
        </p:blipFill>
        <p:spPr>
          <a:xfrm>
            <a:off x="6296530" y="99023"/>
            <a:ext cx="824215" cy="563165"/>
          </a:xfrm>
          <a:prstGeom prst="rect">
            <a:avLst/>
          </a:prstGeom>
        </p:spPr>
      </p:pic>
      <p:pic>
        <p:nvPicPr>
          <p:cNvPr id="1030" name="Picture 6">
            <a:extLst>
              <a:ext uri="{FF2B5EF4-FFF2-40B4-BE49-F238E27FC236}">
                <a16:creationId xmlns:a16="http://schemas.microsoft.com/office/drawing/2014/main" id="{BAA0338A-6122-9AED-0730-6D2A22140A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8418" y="99023"/>
            <a:ext cx="824215" cy="54947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B193F9E-1847-3A9D-C311-13A2538B4E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0148" y="106937"/>
            <a:ext cx="1121528" cy="5246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97019A4-79C3-4D3F-2AFC-2A565A8FA7E8}"/>
              </a:ext>
            </a:extLst>
          </p:cNvPr>
          <p:cNvPicPr>
            <a:picLocks noChangeAspect="1"/>
          </p:cNvPicPr>
          <p:nvPr/>
        </p:nvPicPr>
        <p:blipFill>
          <a:blip r:embed="rId7"/>
          <a:stretch>
            <a:fillRect/>
          </a:stretch>
        </p:blipFill>
        <p:spPr>
          <a:xfrm>
            <a:off x="78047" y="90622"/>
            <a:ext cx="1757075" cy="514350"/>
          </a:xfrm>
          <a:prstGeom prst="rect">
            <a:avLst/>
          </a:prstGeom>
        </p:spPr>
      </p:pic>
      <p:pic>
        <p:nvPicPr>
          <p:cNvPr id="4" name="Picture 3">
            <a:extLst>
              <a:ext uri="{FF2B5EF4-FFF2-40B4-BE49-F238E27FC236}">
                <a16:creationId xmlns:a16="http://schemas.microsoft.com/office/drawing/2014/main" id="{263333CB-98AB-BAF4-AFF1-93C97914AE64}"/>
              </a:ext>
            </a:extLst>
          </p:cNvPr>
          <p:cNvPicPr>
            <a:picLocks noChangeAspect="1"/>
          </p:cNvPicPr>
          <p:nvPr/>
        </p:nvPicPr>
        <p:blipFill>
          <a:blip r:embed="rId8"/>
          <a:stretch>
            <a:fillRect/>
          </a:stretch>
        </p:blipFill>
        <p:spPr>
          <a:xfrm>
            <a:off x="1905856" y="90621"/>
            <a:ext cx="1484068" cy="530667"/>
          </a:xfrm>
          <a:prstGeom prst="rect">
            <a:avLst/>
          </a:prstGeom>
        </p:spPr>
      </p:pic>
      <p:pic>
        <p:nvPicPr>
          <p:cNvPr id="5" name="Picture 4">
            <a:extLst>
              <a:ext uri="{FF2B5EF4-FFF2-40B4-BE49-F238E27FC236}">
                <a16:creationId xmlns:a16="http://schemas.microsoft.com/office/drawing/2014/main" id="{4D39A9DB-7338-3C8D-C397-AC627B4B0210}"/>
              </a:ext>
            </a:extLst>
          </p:cNvPr>
          <p:cNvPicPr>
            <a:picLocks noChangeAspect="1"/>
          </p:cNvPicPr>
          <p:nvPr/>
        </p:nvPicPr>
        <p:blipFill>
          <a:blip r:embed="rId9"/>
          <a:stretch>
            <a:fillRect/>
          </a:stretch>
        </p:blipFill>
        <p:spPr>
          <a:xfrm>
            <a:off x="4625064" y="106937"/>
            <a:ext cx="740477" cy="5436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2" name="Google Shape;139;p24">
            <a:extLst>
              <a:ext uri="{FF2B5EF4-FFF2-40B4-BE49-F238E27FC236}">
                <a16:creationId xmlns:a16="http://schemas.microsoft.com/office/drawing/2014/main" id="{C364F14A-C4B2-7F4C-11FC-AF8A79E80EDD}"/>
              </a:ext>
            </a:extLst>
          </p:cNvPr>
          <p:cNvSpPr txBox="1"/>
          <p:nvPr/>
        </p:nvSpPr>
        <p:spPr>
          <a:xfrm>
            <a:off x="-1108400" y="3404676"/>
            <a:ext cx="11360800" cy="1056900"/>
          </a:xfrm>
          <a:prstGeom prst="rect">
            <a:avLst/>
          </a:prstGeom>
          <a:noFill/>
          <a:ln>
            <a:noFill/>
          </a:ln>
        </p:spPr>
        <p:txBody>
          <a:bodyPr spcFirstLastPara="1" wrap="square" lIns="121900" tIns="121900" rIns="121900" bIns="121900" anchor="t" anchorCtr="0">
            <a:noAutofit/>
          </a:bodyPr>
          <a:lstStyle/>
          <a:p>
            <a:pPr algn="ctr">
              <a:buSzPts val="2800"/>
            </a:pPr>
            <a:r>
              <a:rPr lang="en" sz="2800" dirty="0">
                <a:solidFill>
                  <a:srgbClr val="980000"/>
                </a:solidFill>
                <a:latin typeface="Times New Roman" panose="02020603050405020304" pitchFamily="18" charset="0"/>
                <a:ea typeface="Archivo Narrow"/>
                <a:cs typeface="Times New Roman" panose="02020603050405020304" pitchFamily="18" charset="0"/>
                <a:sym typeface="Archivo Narrow"/>
              </a:rPr>
              <a:t>Presented by </a:t>
            </a:r>
            <a:endParaRPr sz="1800" dirty="0">
              <a:latin typeface="Times New Roman" panose="02020603050405020304" pitchFamily="18" charset="0"/>
              <a:cs typeface="Times New Roman" panose="02020603050405020304" pitchFamily="18" charset="0"/>
            </a:endParaRPr>
          </a:p>
          <a:p>
            <a:pPr lvl="0" algn="ctr">
              <a:buSzPts val="2800"/>
            </a:pPr>
            <a:r>
              <a:rPr lang="en-US" sz="2800" dirty="0">
                <a:latin typeface="Times New Roman" panose="02020603050405020304" pitchFamily="18" charset="0"/>
                <a:ea typeface="Archivo Narrow"/>
                <a:cs typeface="Times New Roman" panose="02020603050405020304" pitchFamily="18" charset="0"/>
                <a:sym typeface="Archivo Narrow"/>
              </a:rPr>
              <a:t>Tisha Chhabra, Kamal Upreti, Varuna Gupta</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39044DD-DF74-6107-125E-8E1564924DB0}"/>
              </a:ext>
            </a:extLst>
          </p:cNvPr>
          <p:cNvSpPr txBox="1"/>
          <p:nvPr/>
        </p:nvSpPr>
        <p:spPr>
          <a:xfrm>
            <a:off x="418042" y="637393"/>
            <a:ext cx="8307916" cy="2739211"/>
          </a:xfrm>
          <a:prstGeom prst="rect">
            <a:avLst/>
          </a:prstGeom>
          <a:noFill/>
        </p:spPr>
        <p:txBody>
          <a:bodyPr wrap="square" rtlCol="0">
            <a:spAutoFit/>
          </a:bodyPr>
          <a:lstStyle/>
          <a:p>
            <a:pPr algn="ctr">
              <a:buSzPts val="3600"/>
            </a:pPr>
            <a:r>
              <a:rPr lang="en" sz="2800" b="1" dirty="0">
                <a:solidFill>
                  <a:srgbClr val="0000FF"/>
                </a:solidFill>
                <a:latin typeface="Times New Roman" panose="02020603050405020304" pitchFamily="18" charset="0"/>
                <a:cs typeface="Times New Roman" panose="02020603050405020304" pitchFamily="18" charset="0"/>
                <a:sym typeface="Archivo Narrow"/>
              </a:rPr>
              <a:t>Paper ID: 597</a:t>
            </a:r>
          </a:p>
          <a:p>
            <a:pPr algn="ctr">
              <a:buSzPts val="3600"/>
            </a:pPr>
            <a:endParaRPr lang="en" sz="2800" b="1" dirty="0">
              <a:solidFill>
                <a:srgbClr val="0000FF"/>
              </a:solidFill>
              <a:latin typeface="Times New Roman" panose="02020603050405020304" pitchFamily="18" charset="0"/>
              <a:cs typeface="Times New Roman" panose="02020603050405020304" pitchFamily="18" charset="0"/>
              <a:sym typeface="Archivo Narrow"/>
            </a:endParaRPr>
          </a:p>
          <a:p>
            <a:pPr lvl="0" algn="ctr">
              <a:buSzPts val="3600"/>
            </a:pPr>
            <a:r>
              <a:rPr lang="en-US" sz="2800" b="1" dirty="0">
                <a:solidFill>
                  <a:srgbClr val="0000FF"/>
                </a:solidFill>
                <a:latin typeface="Times New Roman" panose="02020603050405020304" pitchFamily="18" charset="0"/>
                <a:cs typeface="Times New Roman" panose="02020603050405020304" pitchFamily="18" charset="0"/>
                <a:sym typeface="Archivo Narrow"/>
              </a:rPr>
              <a:t>Comparative Analysis of Advanced CNN Architectures for Multi-Class Brain Tumor Classification Using MRI</a:t>
            </a:r>
            <a:endParaRPr lang="en-US" sz="2400" b="1" dirty="0">
              <a:solidFill>
                <a:srgbClr val="0000FF"/>
              </a:solidFill>
              <a:latin typeface="Times New Roman" panose="02020603050405020304" pitchFamily="18" charset="0"/>
              <a:cs typeface="Times New Roman" panose="02020603050405020304" pitchFamily="18" charset="0"/>
              <a:sym typeface="Archivo Narrow"/>
            </a:endParaRPr>
          </a:p>
          <a:p>
            <a:pPr lvl="0" algn="ctr">
              <a:buSzPts val="3600"/>
            </a:pPr>
            <a:endParaRPr lang="en-US" b="1" dirty="0">
              <a:solidFill>
                <a:srgbClr val="0000FF"/>
              </a:solidFill>
              <a:latin typeface="Times New Roman" panose="02020603050405020304" pitchFamily="18" charset="0"/>
              <a:cs typeface="Times New Roman" panose="02020603050405020304" pitchFamily="18" charset="0"/>
              <a:sym typeface="Archivo Narrow"/>
            </a:endParaRPr>
          </a:p>
          <a:p>
            <a:pPr lvl="0" algn="ctr">
              <a:buSzPts val="3600"/>
            </a:pPr>
            <a:r>
              <a:rPr lang="en" b="1" dirty="0">
                <a:solidFill>
                  <a:srgbClr val="0000FF"/>
                </a:solidFill>
                <a:latin typeface="Times New Roman" panose="02020603050405020304" pitchFamily="18" charset="0"/>
                <a:cs typeface="Times New Roman" panose="02020603050405020304" pitchFamily="18" charset="0"/>
                <a:sym typeface="Archivo Narrow"/>
              </a:rPr>
              <a:t>Track 2: Artificial Intelligence and Machine Learning</a:t>
            </a:r>
            <a:endParaRPr lang="en-US" sz="2000" b="1" dirty="0">
              <a:solidFill>
                <a:srgbClr val="0000FF"/>
              </a:solidFill>
              <a:latin typeface="Times New Roman" panose="02020603050405020304" pitchFamily="18" charset="0"/>
              <a:ea typeface="Archivo Narrow"/>
              <a:cs typeface="Times New Roman" panose="02020603050405020304" pitchFamily="18" charset="0"/>
              <a:sym typeface="Archivo Narrow"/>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Abstract</a:t>
            </a:r>
            <a:endParaRPr dirty="0">
              <a:latin typeface="Times New Roman" panose="02020603050405020304" pitchFamily="18" charset="0"/>
              <a:cs typeface="Times New Roman" panose="02020603050405020304" pitchFamily="18" charset="0"/>
            </a:endParaRPr>
          </a:p>
        </p:txBody>
      </p:sp>
      <p:sp>
        <p:nvSpPr>
          <p:cNvPr id="2" name="Google Shape;147;p25">
            <a:extLst>
              <a:ext uri="{FF2B5EF4-FFF2-40B4-BE49-F238E27FC236}">
                <a16:creationId xmlns:a16="http://schemas.microsoft.com/office/drawing/2014/main" id="{6D47A98F-370F-3969-BF6C-3D5732B4B90E}"/>
              </a:ext>
            </a:extLst>
          </p:cNvPr>
          <p:cNvSpPr txBox="1">
            <a:spLocks/>
          </p:cNvSpPr>
          <p:nvPr/>
        </p:nvSpPr>
        <p:spPr>
          <a:xfrm>
            <a:off x="311700" y="1017650"/>
            <a:ext cx="8520600" cy="455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r>
              <a:rPr lang="en-US" b="1" dirty="0">
                <a:latin typeface="Times New Roman" panose="02020603050405020304" pitchFamily="18" charset="0"/>
                <a:cs typeface="Times New Roman" panose="02020603050405020304" pitchFamily="18" charset="0"/>
              </a:rPr>
              <a:t>Brief summary:</a:t>
            </a:r>
            <a:r>
              <a:rPr lang="en-US" dirty="0">
                <a:latin typeface="Times New Roman" panose="02020603050405020304" pitchFamily="18" charset="0"/>
                <a:cs typeface="Times New Roman" panose="02020603050405020304" pitchFamily="18" charset="0"/>
              </a:rPr>
              <a:t> Comparative analysis of advanced CNN architectures for 4-class brain tumor classification using MRI scans.</a:t>
            </a:r>
          </a:p>
          <a:p>
            <a:r>
              <a:rPr lang="en-US" b="1" dirty="0">
                <a:latin typeface="Times New Roman" panose="02020603050405020304" pitchFamily="18" charset="0"/>
                <a:cs typeface="Times New Roman" panose="02020603050405020304" pitchFamily="18" charset="0"/>
              </a:rPr>
              <a:t>Key contributions:</a:t>
            </a:r>
            <a:r>
              <a:rPr lang="en-US" dirty="0">
                <a:latin typeface="Times New Roman" panose="02020603050405020304" pitchFamily="18" charset="0"/>
                <a:cs typeface="Times New Roman" panose="02020603050405020304" pitchFamily="18" charset="0"/>
              </a:rPr>
              <a:t> Rigorous evaluation of three advanced CNN architectures under identical pipelines to identify the optimal feature extractor.</a:t>
            </a:r>
          </a:p>
          <a:p>
            <a:r>
              <a:rPr lang="en-US" b="1" dirty="0">
                <a:latin typeface="Times New Roman" panose="02020603050405020304" pitchFamily="18" charset="0"/>
                <a:cs typeface="Times New Roman" panose="02020603050405020304" pitchFamily="18" charset="0"/>
              </a:rPr>
              <a:t>Motivation:</a:t>
            </a:r>
            <a:r>
              <a:rPr lang="en-US" dirty="0">
                <a:latin typeface="Times New Roman" panose="02020603050405020304" pitchFamily="18" charset="0"/>
                <a:cs typeface="Times New Roman" panose="02020603050405020304" pitchFamily="18" charset="0"/>
              </a:rPr>
              <a:t> Manual MRI reading is labor-intensive; there is a critical need for rapid and automated diagnostic tools.</a:t>
            </a:r>
          </a:p>
          <a:p>
            <a:r>
              <a:rPr lang="en-US" b="1" dirty="0">
                <a:latin typeface="Times New Roman" panose="02020603050405020304" pitchFamily="18" charset="0"/>
                <a:cs typeface="Times New Roman" panose="02020603050405020304" pitchFamily="18" charset="0"/>
              </a:rPr>
              <a:t>Main results:</a:t>
            </a:r>
            <a:r>
              <a:rPr lang="en-US" dirty="0">
                <a:latin typeface="Times New Roman" panose="02020603050405020304" pitchFamily="18" charset="0"/>
                <a:cs typeface="Times New Roman" panose="02020603050405020304" pitchFamily="18" charset="0"/>
              </a:rPr>
              <a:t> EfficientNetV2 achieved 98.92% accuracy (Macro-AUC: 0.9999), outperforming both DenseNet121 and ResNet50V2.</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153" name="Google Shape;153;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Background:</a:t>
            </a:r>
            <a:r>
              <a:rPr lang="en-US" dirty="0">
                <a:latin typeface="Times New Roman" panose="02020603050405020304" pitchFamily="18" charset="0"/>
                <a:cs typeface="Times New Roman" panose="02020603050405020304" pitchFamily="18" charset="0"/>
              </a:rPr>
              <a:t> Brain tumors are severe neurological diseases where rapid diagnosis dictates patient outcomes.</a:t>
            </a:r>
          </a:p>
          <a:p>
            <a:r>
              <a:rPr lang="en-US" b="1" dirty="0">
                <a:latin typeface="Times New Roman" panose="02020603050405020304" pitchFamily="18" charset="0"/>
                <a:cs typeface="Times New Roman" panose="02020603050405020304" pitchFamily="18" charset="0"/>
              </a:rPr>
              <a:t>Context:</a:t>
            </a:r>
            <a:r>
              <a:rPr lang="en-US" dirty="0">
                <a:latin typeface="Times New Roman" panose="02020603050405020304" pitchFamily="18" charset="0"/>
                <a:cs typeface="Times New Roman" panose="02020603050405020304" pitchFamily="18" charset="0"/>
              </a:rPr>
              <a:t> MRI is the diagnostic gold standard, but visually similar tumor features make manual assessment prone to human error.</a:t>
            </a:r>
          </a:p>
          <a:p>
            <a:r>
              <a:rPr lang="en-US" b="1" dirty="0">
                <a:latin typeface="Times New Roman" panose="02020603050405020304" pitchFamily="18" charset="0"/>
                <a:cs typeface="Times New Roman" panose="02020603050405020304" pitchFamily="18" charset="0"/>
              </a:rPr>
              <a:t>Importance of the study:</a:t>
            </a:r>
            <a:r>
              <a:rPr lang="en-US" dirty="0">
                <a:latin typeface="Times New Roman" panose="02020603050405020304" pitchFamily="18" charset="0"/>
                <a:cs typeface="Times New Roman" panose="02020603050405020304" pitchFamily="18" charset="0"/>
              </a:rPr>
              <a:t> Automated classification improves diagnostic speed, reduces human error, and aids in rapid treatment planning.</a:t>
            </a:r>
          </a:p>
          <a:p>
            <a:pPr marL="8890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Literature Review</a:t>
            </a:r>
            <a:endParaRPr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6A69C99-CC7D-DA5A-84DF-9CB6C3028953}"/>
              </a:ext>
            </a:extLst>
          </p:cNvPr>
          <p:cNvGraphicFramePr>
            <a:graphicFrameLocks noGrp="1"/>
          </p:cNvGraphicFramePr>
          <p:nvPr>
            <p:extLst>
              <p:ext uri="{D42A27DB-BD31-4B8C-83A1-F6EECF244321}">
                <p14:modId xmlns:p14="http://schemas.microsoft.com/office/powerpoint/2010/main" val="3626863536"/>
              </p:ext>
            </p:extLst>
          </p:nvPr>
        </p:nvGraphicFramePr>
        <p:xfrm>
          <a:off x="311700" y="1116125"/>
          <a:ext cx="8520600" cy="3342657"/>
        </p:xfrm>
        <a:graphic>
          <a:graphicData uri="http://schemas.openxmlformats.org/drawingml/2006/table">
            <a:tbl>
              <a:tblPr firstRow="1" bandRow="1" bandCol="1">
                <a:tableStyleId>{2D5ABB26-0587-4C30-8999-92F81FD0307C}</a:tableStyleId>
              </a:tblPr>
              <a:tblGrid>
                <a:gridCol w="2840200">
                  <a:extLst>
                    <a:ext uri="{9D8B030D-6E8A-4147-A177-3AD203B41FA5}">
                      <a16:colId xmlns:a16="http://schemas.microsoft.com/office/drawing/2014/main" val="4024648739"/>
                    </a:ext>
                  </a:extLst>
                </a:gridCol>
                <a:gridCol w="2840200">
                  <a:extLst>
                    <a:ext uri="{9D8B030D-6E8A-4147-A177-3AD203B41FA5}">
                      <a16:colId xmlns:a16="http://schemas.microsoft.com/office/drawing/2014/main" val="2062051875"/>
                    </a:ext>
                  </a:extLst>
                </a:gridCol>
                <a:gridCol w="2840200">
                  <a:extLst>
                    <a:ext uri="{9D8B030D-6E8A-4147-A177-3AD203B41FA5}">
                      <a16:colId xmlns:a16="http://schemas.microsoft.com/office/drawing/2014/main" val="2907087903"/>
                    </a:ext>
                  </a:extLst>
                </a:gridCol>
              </a:tblGrid>
              <a:tr h="173262">
                <a:tc>
                  <a:txBody>
                    <a:bodyPr/>
                    <a:lstStyle/>
                    <a:p>
                      <a:pPr marL="0" marR="0">
                        <a:spcBef>
                          <a:spcPts val="180"/>
                        </a:spcBef>
                        <a:spcAft>
                          <a:spcPts val="180"/>
                        </a:spcAft>
                        <a:buNone/>
                      </a:pPr>
                      <a:r>
                        <a:rPr lang="en-US" sz="1100" b="1" dirty="0">
                          <a:solidFill>
                            <a:schemeClr val="tx1"/>
                          </a:solidFill>
                          <a:effectLst/>
                          <a:latin typeface="Times New Roman" panose="02020603050405020304" pitchFamily="18" charset="0"/>
                          <a:cs typeface="Times New Roman" panose="02020603050405020304" pitchFamily="18" charset="0"/>
                        </a:rPr>
                        <a:t>Key Past Works</a:t>
                      </a:r>
                      <a:endParaRPr lang="en-US" sz="1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b="1" dirty="0">
                          <a:solidFill>
                            <a:schemeClr val="tx1"/>
                          </a:solidFill>
                          <a:effectLst/>
                          <a:latin typeface="Times New Roman" panose="02020603050405020304" pitchFamily="18" charset="0"/>
                          <a:cs typeface="Times New Roman" panose="02020603050405020304" pitchFamily="18" charset="0"/>
                        </a:rPr>
                        <a:t>Gaps Identified</a:t>
                      </a:r>
                      <a:endParaRPr lang="en-US" sz="1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b="1" dirty="0">
                          <a:solidFill>
                            <a:schemeClr val="tx1"/>
                          </a:solidFill>
                          <a:effectLst/>
                          <a:latin typeface="Times New Roman" panose="02020603050405020304" pitchFamily="18" charset="0"/>
                          <a:cs typeface="Times New Roman" panose="02020603050405020304" pitchFamily="18" charset="0"/>
                        </a:rPr>
                        <a:t>Research Positioning (Our Study)</a:t>
                      </a:r>
                      <a:endParaRPr lang="en-US" sz="1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934243"/>
                  </a:ext>
                </a:extLst>
              </a:tr>
              <a:tr h="1056115">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Traditional ML vs. Basic CNNs(e.g., Saeedi et al., 2023; Sabry et al., 2025) Studies comparing traditional models (SVM, KNN) against basic 2D-CNNs.</a:t>
                      </a:r>
                    </a:p>
                    <a:p>
                      <a:pPr marL="0" marR="0">
                        <a:spcBef>
                          <a:spcPts val="180"/>
                        </a:spcBef>
                        <a:spcAft>
                          <a:spcPts val="180"/>
                        </a:spcAft>
                        <a:buNone/>
                      </a:pPr>
                      <a:br>
                        <a:rPr lang="en-US" sz="1100" dirty="0">
                          <a:solidFill>
                            <a:schemeClr val="tx1"/>
                          </a:solidFill>
                          <a:effectLst/>
                          <a:latin typeface="Times New Roman" panose="02020603050405020304" pitchFamily="18" charset="0"/>
                          <a:cs typeface="Times New Roman" panose="02020603050405020304" pitchFamily="18" charset="0"/>
                        </a:rPr>
                      </a:b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Proved Deep Learning is superior, but lacked evaluation of modern, state-of-the-art architectures.</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Focuses exclusively on comparing advanced, top-tier pre-trained backbones (EfficientNetV2, </a:t>
                      </a:r>
                      <a:r>
                        <a:rPr lang="en-US" sz="1100" dirty="0" err="1">
                          <a:solidFill>
                            <a:schemeClr val="tx1"/>
                          </a:solidFill>
                          <a:effectLst/>
                          <a:latin typeface="Times New Roman" panose="02020603050405020304" pitchFamily="18" charset="0"/>
                          <a:cs typeface="Times New Roman" panose="02020603050405020304" pitchFamily="18" charset="0"/>
                        </a:rPr>
                        <a:t>DenseNet</a:t>
                      </a:r>
                      <a:r>
                        <a:rPr lang="en-US" sz="1100" dirty="0">
                          <a:solidFill>
                            <a:schemeClr val="tx1"/>
                          </a:solidFill>
                          <a:effectLst/>
                          <a:latin typeface="Times New Roman" panose="02020603050405020304" pitchFamily="18" charset="0"/>
                          <a:cs typeface="Times New Roman" panose="02020603050405020304" pitchFamily="18" charset="0"/>
                        </a:rPr>
                        <a:t>, </a:t>
                      </a:r>
                      <a:r>
                        <a:rPr lang="en-US" sz="1100" dirty="0" err="1">
                          <a:solidFill>
                            <a:schemeClr val="tx1"/>
                          </a:solidFill>
                          <a:effectLst/>
                          <a:latin typeface="Times New Roman" panose="02020603050405020304" pitchFamily="18" charset="0"/>
                          <a:cs typeface="Times New Roman" panose="02020603050405020304" pitchFamily="18" charset="0"/>
                        </a:rPr>
                        <a:t>ResNet</a:t>
                      </a:r>
                      <a:r>
                        <a:rPr lang="en-US" sz="1100" dirty="0">
                          <a:solidFill>
                            <a:schemeClr val="tx1"/>
                          </a:solidFill>
                          <a:effectLst/>
                          <a:latin typeface="Times New Roman" panose="02020603050405020304" pitchFamily="18" charset="0"/>
                          <a:cs typeface="Times New Roman" panose="02020603050405020304" pitchFamily="18" charset="0"/>
                        </a:rPr>
                        <a:t>).</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975725"/>
                  </a:ext>
                </a:extLst>
              </a:tr>
              <a:tr h="1056115">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Comparative CNN Studies(e.g., Wong et al., 2025; </a:t>
                      </a:r>
                      <a:r>
                        <a:rPr lang="en-US" sz="1100" dirty="0" err="1">
                          <a:solidFill>
                            <a:schemeClr val="tx1"/>
                          </a:solidFill>
                          <a:effectLst/>
                          <a:latin typeface="Times New Roman" panose="02020603050405020304" pitchFamily="18" charset="0"/>
                          <a:cs typeface="Times New Roman" panose="02020603050405020304" pitchFamily="18" charset="0"/>
                        </a:rPr>
                        <a:t>Disci</a:t>
                      </a:r>
                      <a:r>
                        <a:rPr lang="en-US" sz="1100" dirty="0">
                          <a:solidFill>
                            <a:schemeClr val="tx1"/>
                          </a:solidFill>
                          <a:effectLst/>
                          <a:latin typeface="Times New Roman" panose="02020603050405020304" pitchFamily="18" charset="0"/>
                          <a:cs typeface="Times New Roman" panose="02020603050405020304" pitchFamily="18" charset="0"/>
                        </a:rPr>
                        <a:t> et al., 2025) Evaluated multiple architectures (VGG16, </a:t>
                      </a:r>
                      <a:r>
                        <a:rPr lang="en-US" sz="1100" dirty="0" err="1">
                          <a:solidFill>
                            <a:schemeClr val="tx1"/>
                          </a:solidFill>
                          <a:effectLst/>
                          <a:latin typeface="Times New Roman" panose="02020603050405020304" pitchFamily="18" charset="0"/>
                          <a:cs typeface="Times New Roman" panose="02020603050405020304" pitchFamily="18" charset="0"/>
                        </a:rPr>
                        <a:t>Xception</a:t>
                      </a:r>
                      <a:r>
                        <a:rPr lang="en-US" sz="1100" dirty="0">
                          <a:solidFill>
                            <a:schemeClr val="tx1"/>
                          </a:solidFill>
                          <a:effectLst/>
                          <a:latin typeface="Times New Roman" panose="02020603050405020304" pitchFamily="18" charset="0"/>
                          <a:cs typeface="Times New Roman" panose="02020603050405020304" pitchFamily="18" charset="0"/>
                        </a:rPr>
                        <a:t>, ResNet50) on MRI datasets.</a:t>
                      </a:r>
                    </a:p>
                    <a:p>
                      <a:pPr marL="0" marR="0">
                        <a:spcBef>
                          <a:spcPts val="180"/>
                        </a:spcBef>
                        <a:spcAft>
                          <a:spcPts val="180"/>
                        </a:spcAft>
                        <a:buNone/>
                      </a:pPr>
                      <a:br>
                        <a:rPr lang="en-US" sz="1100" dirty="0">
                          <a:solidFill>
                            <a:schemeClr val="tx1"/>
                          </a:solidFill>
                          <a:effectLst/>
                          <a:latin typeface="Times New Roman" panose="02020603050405020304" pitchFamily="18" charset="0"/>
                          <a:cs typeface="Times New Roman" panose="02020603050405020304" pitchFamily="18" charset="0"/>
                        </a:rPr>
                      </a:b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Often lacked strict methodological control (unified classification heads) across the different models compared.</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Employs a strictly unified custom classification head across all backbones to ensure a mathematically fair comparison.</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690012"/>
                  </a:ext>
                </a:extLst>
              </a:tr>
              <a:tr h="1056115">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“Black-Box” Medical AI Models(e.g., Patrício et al., 2022) Models achieving 98%+ accuracy on brain tumor classification.</a:t>
                      </a:r>
                    </a:p>
                    <a:p>
                      <a:pPr marL="0" marR="0">
                        <a:spcBef>
                          <a:spcPts val="180"/>
                        </a:spcBef>
                        <a:spcAft>
                          <a:spcPts val="180"/>
                        </a:spcAft>
                        <a:buNone/>
                      </a:pPr>
                      <a:br>
                        <a:rPr lang="en-US" sz="1100" dirty="0">
                          <a:solidFill>
                            <a:schemeClr val="tx1"/>
                          </a:solidFill>
                          <a:effectLst/>
                          <a:latin typeface="Times New Roman" panose="02020603050405020304" pitchFamily="18" charset="0"/>
                          <a:cs typeface="Times New Roman" panose="02020603050405020304" pitchFamily="18" charset="0"/>
                        </a:rPr>
                      </a:b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Identified a severe lack of interpretability, making it difficult for clinicians to trust the high accuracy.</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buNone/>
                      </a:pPr>
                      <a:r>
                        <a:rPr lang="en-US" sz="1100" dirty="0">
                          <a:solidFill>
                            <a:schemeClr val="tx1"/>
                          </a:solidFill>
                          <a:effectLst/>
                          <a:latin typeface="Times New Roman" panose="02020603050405020304" pitchFamily="18" charset="0"/>
                          <a:cs typeface="Times New Roman" panose="02020603050405020304" pitchFamily="18" charset="0"/>
                        </a:rPr>
                        <a:t>Integrates Grad-CAM to visually validate the regions of interest, confirming localized feature extraction.</a:t>
                      </a:r>
                      <a:endParaRPr lang="en-US"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68929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Problem Statement</a:t>
            </a:r>
            <a:endParaRPr dirty="0">
              <a:latin typeface="Times New Roman" panose="02020603050405020304" pitchFamily="18" charset="0"/>
              <a:cs typeface="Times New Roman" panose="02020603050405020304" pitchFamily="18" charset="0"/>
            </a:endParaRPr>
          </a:p>
        </p:txBody>
      </p:sp>
      <p:sp>
        <p:nvSpPr>
          <p:cNvPr id="165" name="Google Shape;165;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68300" algn="l" rtl="0">
              <a:lnSpc>
                <a:spcPct val="100000"/>
              </a:lnSpc>
              <a:spcBef>
                <a:spcPts val="0"/>
              </a:spcBef>
              <a:spcAft>
                <a:spcPts val="0"/>
              </a:spcAft>
              <a:buClr>
                <a:srgbClr val="000000"/>
              </a:buClr>
              <a:buSzPts val="2200"/>
              <a:buChar char="●"/>
            </a:pPr>
            <a:r>
              <a:rPr lang="en-US" b="1" dirty="0">
                <a:latin typeface="Times New Roman" panose="02020603050405020304" pitchFamily="18" charset="0"/>
                <a:cs typeface="Times New Roman" panose="02020603050405020304" pitchFamily="18" charset="0"/>
              </a:rPr>
              <a:t>Define the core research problem: </a:t>
            </a:r>
            <a:r>
              <a:rPr lang="en-US" dirty="0">
                <a:latin typeface="Times New Roman" panose="02020603050405020304" pitchFamily="18" charset="0"/>
                <a:cs typeface="Times New Roman" panose="02020603050405020304" pitchFamily="18" charset="0"/>
              </a:rPr>
              <a:t>Identifying the most accurate and reliable deep learning model for classifying MRI scans into four categories (glioma, meningioma, pituitary, normal).</a:t>
            </a:r>
          </a:p>
          <a:p>
            <a:pPr marL="457200" lvl="0" indent="-368300" algn="l" rtl="0">
              <a:lnSpc>
                <a:spcPct val="100000"/>
              </a:lnSpc>
              <a:spcBef>
                <a:spcPts val="0"/>
              </a:spcBef>
              <a:spcAft>
                <a:spcPts val="0"/>
              </a:spcAft>
              <a:buClr>
                <a:srgbClr val="000000"/>
              </a:buClr>
              <a:buSzPts val="2200"/>
              <a:buChar char="●"/>
            </a:pPr>
            <a:r>
              <a:rPr lang="en-US" b="1" dirty="0">
                <a:latin typeface="Times New Roman" panose="02020603050405020304" pitchFamily="18" charset="0"/>
                <a:cs typeface="Times New Roman" panose="02020603050405020304" pitchFamily="18" charset="0"/>
              </a:rPr>
              <a:t>Limitations of existing solutions: </a:t>
            </a:r>
            <a:r>
              <a:rPr lang="en-US" dirty="0">
                <a:latin typeface="Times New Roman" panose="02020603050405020304" pitchFamily="18" charset="0"/>
                <a:cs typeface="Times New Roman" panose="02020603050405020304" pitchFamily="18" charset="0"/>
              </a:rPr>
              <a:t>Traditional machine learning lacks accuracy, and many existing deep learning studies fail to isolate the quality of the CNN backbone from the classification head.</a:t>
            </a:r>
          </a:p>
          <a:p>
            <a:pPr marL="457200" lvl="0" indent="-368300" algn="l" rtl="0">
              <a:lnSpc>
                <a:spcPct val="100000"/>
              </a:lnSpc>
              <a:spcBef>
                <a:spcPts val="0"/>
              </a:spcBef>
              <a:spcAft>
                <a:spcPts val="0"/>
              </a:spcAft>
              <a:buClr>
                <a:srgbClr val="000000"/>
              </a:buClr>
              <a:buSzPts val="2200"/>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Objectives</a:t>
            </a:r>
            <a:endParaRPr dirty="0">
              <a:latin typeface="Times New Roman" panose="02020603050405020304" pitchFamily="18" charset="0"/>
              <a:cs typeface="Times New Roman" panose="02020603050405020304" pitchFamily="18" charset="0"/>
            </a:endParaRPr>
          </a:p>
        </p:txBody>
      </p:sp>
      <p:sp>
        <p:nvSpPr>
          <p:cNvPr id="171" name="Google Shape;171;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Objective 1:</a:t>
            </a:r>
            <a:r>
              <a:rPr lang="en-US" dirty="0">
                <a:latin typeface="Times New Roman" panose="02020603050405020304" pitchFamily="18" charset="0"/>
                <a:cs typeface="Times New Roman" panose="02020603050405020304" pitchFamily="18" charset="0"/>
              </a:rPr>
              <a:t> Classify MRI images into four distinct classes (glioma, meningioma, pituitary, and normal brain).</a:t>
            </a:r>
          </a:p>
          <a:p>
            <a:r>
              <a:rPr lang="en-US" b="1" dirty="0">
                <a:latin typeface="Times New Roman" panose="02020603050405020304" pitchFamily="18" charset="0"/>
                <a:cs typeface="Times New Roman" panose="02020603050405020304" pitchFamily="18" charset="0"/>
              </a:rPr>
              <a:t>Objective 2:</a:t>
            </a:r>
            <a:r>
              <a:rPr lang="en-US" dirty="0">
                <a:latin typeface="Times New Roman" panose="02020603050405020304" pitchFamily="18" charset="0"/>
                <a:cs typeface="Times New Roman" panose="02020603050405020304" pitchFamily="18" charset="0"/>
              </a:rPr>
              <a:t> Evaluate and compare EfficientNetV2, DenseNet121, and ResNet50V2 under strictly identical experimental conditions.</a:t>
            </a:r>
          </a:p>
          <a:p>
            <a:r>
              <a:rPr lang="en-US" b="1" dirty="0">
                <a:latin typeface="Times New Roman" panose="02020603050405020304" pitchFamily="18" charset="0"/>
                <a:cs typeface="Times New Roman" panose="02020603050405020304" pitchFamily="18" charset="0"/>
              </a:rPr>
              <a:t>Objective 3:</a:t>
            </a:r>
            <a:r>
              <a:rPr lang="en-US" dirty="0">
                <a:latin typeface="Times New Roman" panose="02020603050405020304" pitchFamily="18" charset="0"/>
                <a:cs typeface="Times New Roman" panose="02020603050405020304" pitchFamily="18" charset="0"/>
              </a:rPr>
              <a:t> Employ Grad-CAM to spatially map the feature representations driving the model's classification.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Proposed Methodology</a:t>
            </a:r>
            <a:endParaRPr dirty="0">
              <a:latin typeface="Times New Roman" panose="02020603050405020304" pitchFamily="18" charset="0"/>
              <a:cs typeface="Times New Roman" panose="02020603050405020304" pitchFamily="18" charset="0"/>
            </a:endParaRPr>
          </a:p>
        </p:txBody>
      </p:sp>
      <p:sp>
        <p:nvSpPr>
          <p:cNvPr id="177" name="Google Shape;177;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Framework overview:</a:t>
            </a:r>
            <a:r>
              <a:rPr lang="en-US" dirty="0">
                <a:latin typeface="Times New Roman" panose="02020603050405020304" pitchFamily="18" charset="0"/>
                <a:cs typeface="Times New Roman" panose="02020603050405020304" pitchFamily="18" charset="0"/>
              </a:rPr>
              <a:t> Two-stage transfer learning approach utilizing pre-trained CNN feature extractors.</a:t>
            </a:r>
          </a:p>
          <a:p>
            <a:r>
              <a:rPr lang="en-US" b="1" dirty="0">
                <a:latin typeface="Times New Roman" panose="02020603050405020304" pitchFamily="18" charset="0"/>
                <a:cs typeface="Times New Roman" panose="02020603050405020304" pitchFamily="18" charset="0"/>
              </a:rPr>
              <a:t>Models, algorithms used:</a:t>
            </a:r>
            <a:r>
              <a:rPr lang="en-US" dirty="0">
                <a:latin typeface="Times New Roman" panose="02020603050405020304" pitchFamily="18" charset="0"/>
                <a:cs typeface="Times New Roman" panose="02020603050405020304" pitchFamily="18" charset="0"/>
              </a:rPr>
              <a:t> EfficientNetV2, DenseNet121, ResNet50V2 (interchangeable backbones feeding into a unified custom classification head).</a:t>
            </a:r>
          </a:p>
          <a:p>
            <a:r>
              <a:rPr lang="en-US" b="1" dirty="0">
                <a:latin typeface="Times New Roman" panose="02020603050405020304" pitchFamily="18" charset="0"/>
                <a:cs typeface="Times New Roman" panose="02020603050405020304" pitchFamily="18" charset="0"/>
              </a:rPr>
              <a:t>Tools &amp; technologies:</a:t>
            </a:r>
            <a:r>
              <a:rPr lang="en-US" dirty="0">
                <a:latin typeface="Times New Roman" panose="02020603050405020304" pitchFamily="18" charset="0"/>
                <a:cs typeface="Times New Roman" panose="02020603050405020304" pitchFamily="18" charset="0"/>
              </a:rPr>
              <a:t> Data Augmentation (flipping, rotation), Optimization (weight decay, cosine decay LR), and Test-Time Augmentation (TTA).</a:t>
            </a:r>
          </a:p>
          <a:p>
            <a:pPr marL="8890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Methodology Diagram</a:t>
            </a:r>
            <a:endParaRPr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FCB27A7-67B3-BA13-28DD-D4B9A18E1CD3}"/>
              </a:ext>
            </a:extLst>
          </p:cNvPr>
          <p:cNvPicPr>
            <a:picLocks noChangeAspect="1"/>
          </p:cNvPicPr>
          <p:nvPr/>
        </p:nvPicPr>
        <p:blipFill>
          <a:blip r:embed="rId3"/>
          <a:stretch>
            <a:fillRect/>
          </a:stretch>
        </p:blipFill>
        <p:spPr>
          <a:xfrm>
            <a:off x="908998" y="1121640"/>
            <a:ext cx="1751912" cy="3002483"/>
          </a:xfrm>
          <a:prstGeom prst="rect">
            <a:avLst/>
          </a:prstGeom>
        </p:spPr>
      </p:pic>
      <p:pic>
        <p:nvPicPr>
          <p:cNvPr id="5" name="Picture 4">
            <a:extLst>
              <a:ext uri="{FF2B5EF4-FFF2-40B4-BE49-F238E27FC236}">
                <a16:creationId xmlns:a16="http://schemas.microsoft.com/office/drawing/2014/main" id="{146C6E12-8A87-E547-C792-9A599B8568C7}"/>
              </a:ext>
            </a:extLst>
          </p:cNvPr>
          <p:cNvPicPr>
            <a:picLocks noChangeAspect="1"/>
          </p:cNvPicPr>
          <p:nvPr/>
        </p:nvPicPr>
        <p:blipFill>
          <a:blip r:embed="rId4"/>
          <a:stretch>
            <a:fillRect/>
          </a:stretch>
        </p:blipFill>
        <p:spPr>
          <a:xfrm>
            <a:off x="6499774" y="1121639"/>
            <a:ext cx="2332526" cy="3002484"/>
          </a:xfrm>
          <a:prstGeom prst="rect">
            <a:avLst/>
          </a:prstGeom>
        </p:spPr>
      </p:pic>
      <p:pic>
        <p:nvPicPr>
          <p:cNvPr id="6" name="Picture 5">
            <a:extLst>
              <a:ext uri="{FF2B5EF4-FFF2-40B4-BE49-F238E27FC236}">
                <a16:creationId xmlns:a16="http://schemas.microsoft.com/office/drawing/2014/main" id="{A7E767A7-AD78-D02F-8D30-2DC9E43A3575}"/>
              </a:ext>
            </a:extLst>
          </p:cNvPr>
          <p:cNvPicPr>
            <a:picLocks noChangeAspect="1"/>
          </p:cNvPicPr>
          <p:nvPr/>
        </p:nvPicPr>
        <p:blipFill>
          <a:blip r:embed="rId5"/>
          <a:stretch>
            <a:fillRect/>
          </a:stretch>
        </p:blipFill>
        <p:spPr>
          <a:xfrm>
            <a:off x="3483551" y="1121639"/>
            <a:ext cx="2130105" cy="3002484"/>
          </a:xfrm>
          <a:prstGeom prst="rect">
            <a:avLst/>
          </a:prstGeom>
        </p:spPr>
      </p:pic>
      <p:sp>
        <p:nvSpPr>
          <p:cNvPr id="7" name="TextBox 6">
            <a:extLst>
              <a:ext uri="{FF2B5EF4-FFF2-40B4-BE49-F238E27FC236}">
                <a16:creationId xmlns:a16="http://schemas.microsoft.com/office/drawing/2014/main" id="{E25DCBB6-4AD0-5C84-5902-530F0E3A2527}"/>
              </a:ext>
            </a:extLst>
          </p:cNvPr>
          <p:cNvSpPr txBox="1"/>
          <p:nvPr/>
        </p:nvSpPr>
        <p:spPr>
          <a:xfrm>
            <a:off x="908998" y="4190644"/>
            <a:ext cx="1751912" cy="369332"/>
          </a:xfrm>
          <a:prstGeom prst="rect">
            <a:avLst/>
          </a:prstGeom>
          <a:noFill/>
        </p:spPr>
        <p:txBody>
          <a:bodyPr wrap="square" rtlCol="0">
            <a:spAutoFit/>
          </a:bodyPr>
          <a:lstStyle/>
          <a:p>
            <a:pPr algn="ctr"/>
            <a:r>
              <a:rPr lang="en-US" sz="900" i="1" dirty="0">
                <a:latin typeface="Times New Roman" panose="02020603050405020304" pitchFamily="18" charset="0"/>
                <a:cs typeface="Times New Roman" panose="02020603050405020304" pitchFamily="18" charset="0"/>
              </a:rPr>
              <a:t>Figure 1: Dataset preprocessing and augmentation pipeline.</a:t>
            </a:r>
          </a:p>
        </p:txBody>
      </p:sp>
      <p:sp>
        <p:nvSpPr>
          <p:cNvPr id="8" name="TextBox 7">
            <a:extLst>
              <a:ext uri="{FF2B5EF4-FFF2-40B4-BE49-F238E27FC236}">
                <a16:creationId xmlns:a16="http://schemas.microsoft.com/office/drawing/2014/main" id="{08FB5625-0E06-C054-55FA-A0D3B49C59F7}"/>
              </a:ext>
            </a:extLst>
          </p:cNvPr>
          <p:cNvSpPr txBox="1"/>
          <p:nvPr/>
        </p:nvSpPr>
        <p:spPr>
          <a:xfrm>
            <a:off x="3483550" y="4190644"/>
            <a:ext cx="2130105" cy="507831"/>
          </a:xfrm>
          <a:prstGeom prst="rect">
            <a:avLst/>
          </a:prstGeom>
          <a:noFill/>
        </p:spPr>
        <p:txBody>
          <a:bodyPr wrap="square" rtlCol="0">
            <a:spAutoFit/>
          </a:bodyPr>
          <a:lstStyle/>
          <a:p>
            <a:pPr algn="ctr"/>
            <a:r>
              <a:rPr lang="en-US" sz="900" i="1" dirty="0">
                <a:latin typeface="Times New Roman" panose="02020603050405020304" pitchFamily="18" charset="0"/>
                <a:cs typeface="Times New Roman" panose="02020603050405020304" pitchFamily="18" charset="0"/>
              </a:rPr>
              <a:t> Figure 2: Two-stage transfer learning methodology applied in parallel across all three backbones.</a:t>
            </a:r>
          </a:p>
        </p:txBody>
      </p:sp>
      <p:sp>
        <p:nvSpPr>
          <p:cNvPr id="9" name="TextBox 8">
            <a:extLst>
              <a:ext uri="{FF2B5EF4-FFF2-40B4-BE49-F238E27FC236}">
                <a16:creationId xmlns:a16="http://schemas.microsoft.com/office/drawing/2014/main" id="{37538C54-FF01-7F16-70FE-54868479086B}"/>
              </a:ext>
            </a:extLst>
          </p:cNvPr>
          <p:cNvSpPr txBox="1"/>
          <p:nvPr/>
        </p:nvSpPr>
        <p:spPr>
          <a:xfrm>
            <a:off x="6499774" y="4190644"/>
            <a:ext cx="2332526" cy="507831"/>
          </a:xfrm>
          <a:prstGeom prst="rect">
            <a:avLst/>
          </a:prstGeom>
        </p:spPr>
        <p:txBody>
          <a:bodyPr wrap="square" rtlCol="0">
            <a:spAutoFit/>
          </a:bodyPr>
          <a:lstStyle/>
          <a:p>
            <a:pPr algn="ctr"/>
            <a:r>
              <a:rPr lang="en-US" sz="900" i="1" dirty="0">
                <a:latin typeface="Times New Roman" panose="02020603050405020304" pitchFamily="18" charset="0"/>
                <a:cs typeface="Times New Roman" panose="02020603050405020304" pitchFamily="18" charset="0"/>
              </a:rPr>
              <a:t>Figure 3: Evaluation phase incorporating Test-Time Augmentation (TTA) and Grad-CAM interpretability.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2"/>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Experimental Setup</a:t>
            </a:r>
            <a:endParaRPr dirty="0">
              <a:latin typeface="Times New Roman" panose="02020603050405020304" pitchFamily="18" charset="0"/>
              <a:cs typeface="Times New Roman" panose="02020603050405020304" pitchFamily="18" charset="0"/>
            </a:endParaRPr>
          </a:p>
        </p:txBody>
      </p:sp>
      <p:sp>
        <p:nvSpPr>
          <p:cNvPr id="189" name="Google Shape;189;p32"/>
          <p:cNvSpPr txBox="1">
            <a:spLocks noGrp="1"/>
          </p:cNvSpPr>
          <p:nvPr>
            <p:ph type="body" idx="1"/>
          </p:nvPr>
        </p:nvSpPr>
        <p:spPr>
          <a:xfrm>
            <a:off x="311700" y="1152475"/>
            <a:ext cx="8520600" cy="1843943"/>
          </a:xfrm>
          <a:prstGeom prst="rect">
            <a:avLst/>
          </a:prstGeom>
          <a:noFill/>
          <a:ln>
            <a:noFill/>
          </a:ln>
        </p:spPr>
        <p:txBody>
          <a:bodyPr spcFirstLastPara="1" wrap="square" lIns="91425" tIns="91425" rIns="91425" bIns="91425" anchor="t" anchorCtr="0">
            <a:noAutofit/>
          </a:bodyPr>
          <a:lstStyle/>
          <a:p>
            <a:r>
              <a:rPr lang="en-US" sz="1800" b="1" dirty="0">
                <a:latin typeface="Times New Roman" panose="02020603050405020304" pitchFamily="18" charset="0"/>
                <a:cs typeface="Times New Roman" panose="02020603050405020304" pitchFamily="18" charset="0"/>
              </a:rPr>
              <a:t>Dataset details:</a:t>
            </a:r>
            <a:r>
              <a:rPr lang="en-US" sz="1800" dirty="0">
                <a:latin typeface="Times New Roman" panose="02020603050405020304" pitchFamily="18" charset="0"/>
                <a:cs typeface="Times New Roman" panose="02020603050405020304" pitchFamily="18" charset="0"/>
              </a:rPr>
              <a:t> Public Kaggle Brain Tumor MRI Dataset (4 classes); images resized to 224×224 and normalized [0,1].</a:t>
            </a:r>
          </a:p>
          <a:p>
            <a:r>
              <a:rPr lang="en-US" sz="1800" b="1" dirty="0">
                <a:latin typeface="Times New Roman" panose="02020603050405020304" pitchFamily="18" charset="0"/>
                <a:cs typeface="Times New Roman" panose="02020603050405020304" pitchFamily="18" charset="0"/>
              </a:rPr>
              <a:t>Train/validation/test split:</a:t>
            </a:r>
            <a:r>
              <a:rPr lang="en-US" sz="1800" dirty="0">
                <a:latin typeface="Times New Roman" panose="02020603050405020304" pitchFamily="18" charset="0"/>
                <a:cs typeface="Times New Roman" panose="02020603050405020304" pitchFamily="18" charset="0"/>
              </a:rPr>
              <a:t> 80% Training / 20% Testing (Data augmentation applied exclusively to the training set).</a:t>
            </a:r>
          </a:p>
          <a:p>
            <a:r>
              <a:rPr lang="en-US" sz="1800" b="1" dirty="0">
                <a:latin typeface="Times New Roman" panose="02020603050405020304" pitchFamily="18" charset="0"/>
                <a:cs typeface="Times New Roman" panose="02020603050405020304" pitchFamily="18" charset="0"/>
              </a:rPr>
              <a:t>Evaluation metrics:</a:t>
            </a:r>
            <a:r>
              <a:rPr lang="en-US" sz="1800" dirty="0">
                <a:latin typeface="Times New Roman" panose="02020603050405020304" pitchFamily="18" charset="0"/>
                <a:cs typeface="Times New Roman" panose="02020603050405020304" pitchFamily="18" charset="0"/>
              </a:rPr>
              <a:t> Accuracy, Precision, Recall, F1-Score, ROC-AUC, and Confusion Matrix.</a:t>
            </a:r>
          </a:p>
          <a:p>
            <a:pPr marL="88900" indent="0">
              <a:buNone/>
            </a:pPr>
            <a:endParaRPr lang="en-US" sz="2400" dirty="0"/>
          </a:p>
        </p:txBody>
      </p:sp>
      <p:pic>
        <p:nvPicPr>
          <p:cNvPr id="2" name="Picture 1">
            <a:extLst>
              <a:ext uri="{FF2B5EF4-FFF2-40B4-BE49-F238E27FC236}">
                <a16:creationId xmlns:a16="http://schemas.microsoft.com/office/drawing/2014/main" id="{5AA620F7-02C8-21C8-268C-125235B6EE74}"/>
              </a:ext>
            </a:extLst>
          </p:cNvPr>
          <p:cNvPicPr>
            <a:picLocks noChangeAspect="1"/>
          </p:cNvPicPr>
          <p:nvPr/>
        </p:nvPicPr>
        <p:blipFill>
          <a:blip r:embed="rId3"/>
          <a:stretch>
            <a:fillRect/>
          </a:stretch>
        </p:blipFill>
        <p:spPr>
          <a:xfrm>
            <a:off x="1161970" y="2999218"/>
            <a:ext cx="3201580" cy="1702056"/>
          </a:xfrm>
          <a:prstGeom prst="rect">
            <a:avLst/>
          </a:prstGeom>
        </p:spPr>
      </p:pic>
      <p:pic>
        <p:nvPicPr>
          <p:cNvPr id="3" name="Picture 2">
            <a:extLst>
              <a:ext uri="{FF2B5EF4-FFF2-40B4-BE49-F238E27FC236}">
                <a16:creationId xmlns:a16="http://schemas.microsoft.com/office/drawing/2014/main" id="{19684303-20A4-C46D-CEE3-003032200CD3}"/>
              </a:ext>
            </a:extLst>
          </p:cNvPr>
          <p:cNvPicPr>
            <a:picLocks noChangeAspect="1"/>
          </p:cNvPicPr>
          <p:nvPr/>
        </p:nvPicPr>
        <p:blipFill>
          <a:blip r:embed="rId4"/>
          <a:stretch>
            <a:fillRect/>
          </a:stretch>
        </p:blipFill>
        <p:spPr>
          <a:xfrm>
            <a:off x="4780452" y="3002020"/>
            <a:ext cx="2847004" cy="1696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Results</a:t>
            </a:r>
            <a:endParaRPr dirty="0">
              <a:latin typeface="Times New Roman" panose="02020603050405020304" pitchFamily="18" charset="0"/>
              <a:cs typeface="Times New Roman" panose="02020603050405020304" pitchFamily="18" charset="0"/>
            </a:endParaRPr>
          </a:p>
        </p:txBody>
      </p:sp>
      <p:sp>
        <p:nvSpPr>
          <p:cNvPr id="195" name="Google Shape;195;p3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68300" algn="l" rtl="0">
              <a:lnSpc>
                <a:spcPct val="100000"/>
              </a:lnSpc>
              <a:spcBef>
                <a:spcPts val="0"/>
              </a:spcBef>
              <a:spcAft>
                <a:spcPts val="0"/>
              </a:spcAft>
              <a:buClr>
                <a:srgbClr val="000000"/>
              </a:buClr>
              <a:buSzPts val="2200"/>
              <a:buChar char="●"/>
            </a:pPr>
            <a:r>
              <a:rPr lang="en-US" sz="1600" b="1" dirty="0">
                <a:latin typeface="Times New Roman" panose="02020603050405020304" pitchFamily="18" charset="0"/>
                <a:cs typeface="Times New Roman" panose="02020603050405020304" pitchFamily="18" charset="0"/>
              </a:rPr>
              <a:t>Comparative Performance: </a:t>
            </a:r>
            <a:r>
              <a:rPr lang="en-US" sz="1600" dirty="0">
                <a:latin typeface="Times New Roman" panose="02020603050405020304" pitchFamily="18" charset="0"/>
                <a:cs typeface="Times New Roman" panose="02020603050405020304" pitchFamily="18" charset="0"/>
              </a:rPr>
              <a:t>All three models achieved near-perfect accuracy, but EfficientNetV2 consistently demonstrated superior sensitivity.</a:t>
            </a:r>
          </a:p>
          <a:p>
            <a:pPr marL="457200" lvl="0" indent="-368300" algn="l" rtl="0">
              <a:lnSpc>
                <a:spcPct val="100000"/>
              </a:lnSpc>
              <a:spcBef>
                <a:spcPts val="0"/>
              </a:spcBef>
              <a:spcAft>
                <a:spcPts val="0"/>
              </a:spcAft>
              <a:buClr>
                <a:srgbClr val="000000"/>
              </a:buClr>
              <a:buSzPts val="2200"/>
              <a:buChar char="●"/>
            </a:pPr>
            <a:r>
              <a:rPr lang="en-US" sz="1600" b="1" dirty="0">
                <a:latin typeface="Times New Roman" panose="02020603050405020304" pitchFamily="18" charset="0"/>
                <a:cs typeface="Times New Roman" panose="02020603050405020304" pitchFamily="18" charset="0"/>
              </a:rPr>
              <a:t>EfficientNetV2: </a:t>
            </a:r>
            <a:r>
              <a:rPr lang="en-US" sz="1600" dirty="0">
                <a:latin typeface="Times New Roman" panose="02020603050405020304" pitchFamily="18" charset="0"/>
                <a:cs typeface="Times New Roman" panose="02020603050405020304" pitchFamily="18" charset="0"/>
              </a:rPr>
              <a:t>Macro-AUC 0.9999 (Accuracy: 98.92%)</a:t>
            </a:r>
          </a:p>
          <a:p>
            <a:pPr marL="457200" lvl="0" indent="-368300" algn="l" rtl="0">
              <a:lnSpc>
                <a:spcPct val="100000"/>
              </a:lnSpc>
              <a:spcBef>
                <a:spcPts val="0"/>
              </a:spcBef>
              <a:spcAft>
                <a:spcPts val="0"/>
              </a:spcAft>
              <a:buClr>
                <a:srgbClr val="000000"/>
              </a:buClr>
              <a:buSzPts val="2200"/>
              <a:buChar char="●"/>
            </a:pPr>
            <a:r>
              <a:rPr lang="en-US" sz="1600" b="1" dirty="0">
                <a:latin typeface="Times New Roman" panose="02020603050405020304" pitchFamily="18" charset="0"/>
                <a:cs typeface="Times New Roman" panose="02020603050405020304" pitchFamily="18" charset="0"/>
              </a:rPr>
              <a:t>DenseNet121: </a:t>
            </a:r>
            <a:r>
              <a:rPr lang="en-US" sz="1600" dirty="0">
                <a:latin typeface="Times New Roman" panose="02020603050405020304" pitchFamily="18" charset="0"/>
                <a:cs typeface="Times New Roman" panose="02020603050405020304" pitchFamily="18" charset="0"/>
              </a:rPr>
              <a:t>Macro-AUC 0.9995</a:t>
            </a:r>
          </a:p>
          <a:p>
            <a:pPr marL="457200" lvl="0" indent="-368300" algn="l" rtl="0">
              <a:lnSpc>
                <a:spcPct val="100000"/>
              </a:lnSpc>
              <a:spcBef>
                <a:spcPts val="0"/>
              </a:spcBef>
              <a:spcAft>
                <a:spcPts val="0"/>
              </a:spcAft>
              <a:buClr>
                <a:srgbClr val="000000"/>
              </a:buClr>
              <a:buSzPts val="2200"/>
              <a:buChar char="●"/>
            </a:pPr>
            <a:r>
              <a:rPr lang="en-US" sz="1600" b="1" dirty="0">
                <a:latin typeface="Times New Roman" panose="02020603050405020304" pitchFamily="18" charset="0"/>
                <a:cs typeface="Times New Roman" panose="02020603050405020304" pitchFamily="18" charset="0"/>
              </a:rPr>
              <a:t>ResNet50V2: </a:t>
            </a:r>
            <a:r>
              <a:rPr lang="en-US" sz="1600" dirty="0">
                <a:latin typeface="Times New Roman" panose="02020603050405020304" pitchFamily="18" charset="0"/>
                <a:cs typeface="Times New Roman" panose="02020603050405020304" pitchFamily="18" charset="0"/>
              </a:rPr>
              <a:t>Macro-AUC 0.9995</a:t>
            </a:r>
          </a:p>
          <a:p>
            <a:pPr marL="457200" lvl="0" indent="-368300" algn="l" rtl="0">
              <a:lnSpc>
                <a:spcPct val="100000"/>
              </a:lnSpc>
              <a:spcBef>
                <a:spcPts val="0"/>
              </a:spcBef>
              <a:spcAft>
                <a:spcPts val="0"/>
              </a:spcAft>
              <a:buClr>
                <a:srgbClr val="000000"/>
              </a:buClr>
              <a:buSzPts val="2200"/>
              <a:buChar char="●"/>
            </a:pPr>
            <a:r>
              <a:rPr lang="en-US" sz="1600" b="1" dirty="0">
                <a:latin typeface="Times New Roman" panose="02020603050405020304" pitchFamily="18" charset="0"/>
                <a:cs typeface="Times New Roman" panose="02020603050405020304" pitchFamily="18" charset="0"/>
              </a:rPr>
              <a:t>Key finding: </a:t>
            </a:r>
            <a:r>
              <a:rPr lang="en-US" sz="1600" dirty="0">
                <a:latin typeface="Times New Roman" panose="02020603050405020304" pitchFamily="18" charset="0"/>
                <a:cs typeface="Times New Roman" panose="02020603050405020304" pitchFamily="18" charset="0"/>
              </a:rPr>
              <a:t>EfficientNetV2 maintained the highest True Positive rate even under strict evaluation (top 2% false positive region).</a:t>
            </a:r>
          </a:p>
        </p:txBody>
      </p:sp>
      <p:pic>
        <p:nvPicPr>
          <p:cNvPr id="2" name="Picture 1">
            <a:extLst>
              <a:ext uri="{FF2B5EF4-FFF2-40B4-BE49-F238E27FC236}">
                <a16:creationId xmlns:a16="http://schemas.microsoft.com/office/drawing/2014/main" id="{3E99DFA8-BF72-44F8-4804-70A8A3110830}"/>
              </a:ext>
            </a:extLst>
          </p:cNvPr>
          <p:cNvPicPr>
            <a:picLocks noChangeAspect="1"/>
          </p:cNvPicPr>
          <p:nvPr/>
        </p:nvPicPr>
        <p:blipFill>
          <a:blip r:embed="rId3"/>
          <a:stretch>
            <a:fillRect/>
          </a:stretch>
        </p:blipFill>
        <p:spPr>
          <a:xfrm>
            <a:off x="4876899" y="3046900"/>
            <a:ext cx="3636111" cy="1541488"/>
          </a:xfrm>
          <a:prstGeom prst="rect">
            <a:avLst/>
          </a:prstGeom>
        </p:spPr>
      </p:pic>
      <p:pic>
        <p:nvPicPr>
          <p:cNvPr id="3" name="Picture 2">
            <a:extLst>
              <a:ext uri="{FF2B5EF4-FFF2-40B4-BE49-F238E27FC236}">
                <a16:creationId xmlns:a16="http://schemas.microsoft.com/office/drawing/2014/main" id="{3EA35044-1BB7-291B-40B0-70F3E74CBEA6}"/>
              </a:ext>
            </a:extLst>
          </p:cNvPr>
          <p:cNvPicPr>
            <a:picLocks noChangeAspect="1"/>
          </p:cNvPicPr>
          <p:nvPr/>
        </p:nvPicPr>
        <p:blipFill>
          <a:blip r:embed="rId4"/>
          <a:stretch>
            <a:fillRect/>
          </a:stretch>
        </p:blipFill>
        <p:spPr>
          <a:xfrm>
            <a:off x="796252" y="3046900"/>
            <a:ext cx="3761358" cy="15945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Discussion</a:t>
            </a:r>
            <a:endParaRPr dirty="0">
              <a:latin typeface="Times New Roman" panose="02020603050405020304" pitchFamily="18" charset="0"/>
              <a:cs typeface="Times New Roman" panose="02020603050405020304" pitchFamily="18" charset="0"/>
            </a:endParaRPr>
          </a:p>
        </p:txBody>
      </p:sp>
      <p:sp>
        <p:nvSpPr>
          <p:cNvPr id="201" name="Google Shape;201;p3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Methodological Rigor:</a:t>
            </a:r>
            <a:r>
              <a:rPr lang="en-US" dirty="0">
                <a:latin typeface="Times New Roman" panose="02020603050405020304" pitchFamily="18" charset="0"/>
                <a:cs typeface="Times New Roman" panose="02020603050405020304" pitchFamily="18" charset="0"/>
              </a:rPr>
              <a:t> By using a unified custom classification head, we ensured performance differences were strictly due to backbone feature extraction quality.</a:t>
            </a:r>
          </a:p>
          <a:p>
            <a:r>
              <a:rPr lang="en-US" b="1" dirty="0">
                <a:latin typeface="Times New Roman" panose="02020603050405020304" pitchFamily="18" charset="0"/>
                <a:cs typeface="Times New Roman" panose="02020603050405020304" pitchFamily="18" charset="0"/>
              </a:rPr>
              <a:t>Comparison with baseline methods:</a:t>
            </a:r>
            <a:r>
              <a:rPr lang="en-US" dirty="0">
                <a:latin typeface="Times New Roman" panose="02020603050405020304" pitchFamily="18" charset="0"/>
                <a:cs typeface="Times New Roman" panose="02020603050405020304" pitchFamily="18" charset="0"/>
              </a:rPr>
              <a:t> EfficientNetV2 specifically showed superior sensitivity in the top 2% false positive region of the ROC curve compared to </a:t>
            </a:r>
            <a:r>
              <a:rPr lang="en-US" dirty="0" err="1">
                <a:latin typeface="Times New Roman" panose="02020603050405020304" pitchFamily="18" charset="0"/>
                <a:cs typeface="Times New Roman" panose="02020603050405020304" pitchFamily="18" charset="0"/>
              </a:rPr>
              <a:t>DenseNet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Interpretation of results:</a:t>
            </a:r>
            <a:r>
              <a:rPr lang="en-US" dirty="0">
                <a:latin typeface="Times New Roman" panose="02020603050405020304" pitchFamily="18" charset="0"/>
                <a:cs typeface="Times New Roman" panose="02020603050405020304" pitchFamily="18" charset="0"/>
              </a:rPr>
              <a:t> EfficientNetV2’s architecture is highly effective at extracting complex features from medical images.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5"/>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p:txBody>
      </p:sp>
      <p:sp>
        <p:nvSpPr>
          <p:cNvPr id="207" name="Google Shape;207;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Summary of findings:</a:t>
            </a:r>
            <a:r>
              <a:rPr lang="en-US" dirty="0">
                <a:latin typeface="Times New Roman" panose="02020603050405020304" pitchFamily="18" charset="0"/>
                <a:cs typeface="Times New Roman" panose="02020603050405020304" pitchFamily="18" charset="0"/>
              </a:rPr>
              <a:t> The evaluated EfficientNetV2 model provides robust, reliable, and highly accurate multiclass brain tumor classification.</a:t>
            </a:r>
          </a:p>
          <a:p>
            <a:r>
              <a:rPr lang="en-US" b="1" dirty="0">
                <a:latin typeface="Times New Roman" panose="02020603050405020304" pitchFamily="18" charset="0"/>
                <a:cs typeface="Times New Roman" panose="02020603050405020304" pitchFamily="18" charset="0"/>
              </a:rPr>
              <a:t>Key takeaways:</a:t>
            </a:r>
            <a:r>
              <a:rPr lang="en-US" dirty="0">
                <a:latin typeface="Times New Roman" panose="02020603050405020304" pitchFamily="18" charset="0"/>
                <a:cs typeface="Times New Roman" panose="02020603050405020304" pitchFamily="18" charset="0"/>
              </a:rPr>
              <a:t> EfficientNetV2's architecture extracts features far more effectively for this specific image classification task than older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DenseNet</a:t>
            </a:r>
            <a:r>
              <a:rPr lang="en-US" dirty="0">
                <a:latin typeface="Times New Roman" panose="02020603050405020304" pitchFamily="18" charset="0"/>
                <a:cs typeface="Times New Roman" panose="02020603050405020304" pitchFamily="18" charset="0"/>
              </a:rPr>
              <a:t> models.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6"/>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Future Work</a:t>
            </a:r>
            <a:endParaRPr dirty="0">
              <a:latin typeface="Times New Roman" panose="02020603050405020304" pitchFamily="18" charset="0"/>
              <a:cs typeface="Times New Roman" panose="02020603050405020304" pitchFamily="18" charset="0"/>
            </a:endParaRPr>
          </a:p>
        </p:txBody>
      </p:sp>
      <p:sp>
        <p:nvSpPr>
          <p:cNvPr id="213" name="Google Shape;213;p3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Potential improvements:</a:t>
            </a:r>
            <a:r>
              <a:rPr lang="en-US" dirty="0">
                <a:latin typeface="Times New Roman" panose="02020603050405020304" pitchFamily="18" charset="0"/>
                <a:cs typeface="Times New Roman" panose="02020603050405020304" pitchFamily="18" charset="0"/>
              </a:rPr>
              <a:t> Validate the evaluated models using larger, multi-institutional datasets to ensure broader clinical generalizability.</a:t>
            </a:r>
          </a:p>
          <a:p>
            <a:r>
              <a:rPr lang="en-US" b="1" dirty="0">
                <a:latin typeface="Times New Roman" panose="02020603050405020304" pitchFamily="18" charset="0"/>
                <a:cs typeface="Times New Roman" panose="02020603050405020304" pitchFamily="18" charset="0"/>
              </a:rPr>
              <a:t>Scope for extension:</a:t>
            </a:r>
            <a:r>
              <a:rPr lang="en-US" dirty="0">
                <a:latin typeface="Times New Roman" panose="02020603050405020304" pitchFamily="18" charset="0"/>
                <a:cs typeface="Times New Roman" panose="02020603050405020304" pitchFamily="18" charset="0"/>
              </a:rPr>
              <a:t> Compare current CNN architectures with recently developed Vision Transformer (</a:t>
            </a:r>
            <a:r>
              <a:rPr lang="en-US" dirty="0" err="1">
                <a:latin typeface="Times New Roman" panose="02020603050405020304" pitchFamily="18" charset="0"/>
                <a:cs typeface="Times New Roman" panose="02020603050405020304" pitchFamily="18" charset="0"/>
              </a:rPr>
              <a:t>ViT</a:t>
            </a:r>
            <a:r>
              <a:rPr lang="en-US" dirty="0">
                <a:latin typeface="Times New Roman" panose="02020603050405020304" pitchFamily="18" charset="0"/>
                <a:cs typeface="Times New Roman" panose="02020603050405020304" pitchFamily="18" charset="0"/>
              </a:rPr>
              <a:t>)-based and hybrid CNN–Transformer models.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7"/>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19" name="Google Shape;219;p37"/>
          <p:cNvSpPr txBox="1">
            <a:spLocks noGrp="1"/>
          </p:cNvSpPr>
          <p:nvPr>
            <p:ph type="body" idx="1"/>
          </p:nvPr>
        </p:nvSpPr>
        <p:spPr>
          <a:xfrm>
            <a:off x="311700" y="1017650"/>
            <a:ext cx="8520600" cy="3416400"/>
          </a:xfrm>
          <a:prstGeom prst="rect">
            <a:avLst/>
          </a:prstGeom>
          <a:noFill/>
          <a:ln>
            <a:noFill/>
          </a:ln>
        </p:spPr>
        <p:txBody>
          <a:bodyPr spcFirstLastPara="1" wrap="square" lIns="91425" tIns="91425" rIns="91425" bIns="91425" anchor="t" anchorCtr="0">
            <a:noAutofit/>
          </a:bodyPr>
          <a:lstStyle/>
          <a:p>
            <a:r>
              <a:rPr lang="en-US" sz="1400" dirty="0">
                <a:latin typeface="Times New Roman" panose="02020603050405020304" pitchFamily="18" charset="0"/>
                <a:cs typeface="Times New Roman" panose="02020603050405020304" pitchFamily="18" charset="0"/>
              </a:rPr>
              <a:t>S. Saeedi, S. </a:t>
            </a:r>
            <a:r>
              <a:rPr lang="en-US" sz="1400" dirty="0" err="1">
                <a:latin typeface="Times New Roman" panose="02020603050405020304" pitchFamily="18" charset="0"/>
                <a:cs typeface="Times New Roman" panose="02020603050405020304" pitchFamily="18" charset="0"/>
              </a:rPr>
              <a:t>Rezayi</a:t>
            </a:r>
            <a:r>
              <a:rPr lang="en-US" sz="1400" dirty="0">
                <a:latin typeface="Times New Roman" panose="02020603050405020304" pitchFamily="18" charset="0"/>
                <a:cs typeface="Times New Roman" panose="02020603050405020304" pitchFamily="18" charset="0"/>
              </a:rPr>
              <a:t>, H. Keshavarz, and S. </a:t>
            </a:r>
            <a:r>
              <a:rPr lang="en-US" sz="1400" dirty="0" err="1">
                <a:latin typeface="Times New Roman" panose="02020603050405020304" pitchFamily="18" charset="0"/>
                <a:cs typeface="Times New Roman" panose="02020603050405020304" pitchFamily="18" charset="0"/>
              </a:rPr>
              <a:t>Kalhori</a:t>
            </a:r>
            <a:r>
              <a:rPr lang="en-US" sz="1400" dirty="0">
                <a:latin typeface="Times New Roman" panose="02020603050405020304" pitchFamily="18" charset="0"/>
                <a:cs typeface="Times New Roman" panose="02020603050405020304" pitchFamily="18" charset="0"/>
              </a:rPr>
              <a:t>, "MRI-based brain tumor detection using convolutional deep learning methods and chosen machine learning techniques," BMC Medical Informatics and Decision Making, vol. 23, 2023.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10.1186/s12911-023-02114-6.</a:t>
            </a:r>
          </a:p>
          <a:p>
            <a:r>
              <a:rPr lang="en-US" sz="1400" dirty="0">
                <a:latin typeface="Times New Roman" panose="02020603050405020304" pitchFamily="18" charset="0"/>
                <a:cs typeface="Times New Roman" panose="02020603050405020304" pitchFamily="18" charset="0"/>
              </a:rPr>
              <a:t>Y. Wong, E. Su, C. Yeong, W. Holderbaum, and C. Yang, "Brain tumor classification using MRI images and deep learning techniques," PLOS One, vol. 20,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10.1371/journal.pone.0322624.</a:t>
            </a:r>
          </a:p>
          <a:p>
            <a:r>
              <a:rPr lang="en-US" sz="1400" dirty="0">
                <a:latin typeface="Times New Roman" panose="02020603050405020304" pitchFamily="18" charset="0"/>
                <a:cs typeface="Times New Roman" panose="02020603050405020304" pitchFamily="18" charset="0"/>
              </a:rPr>
              <a:t>P. Jyothi and A. Singh, "Deep learning models and traditional automated techniques for brain tumor segmentation in MRI: a review," Artificial Intelligence Review, vol. 56, pp. 2923–2969, 2022.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10.1007/s10462-022-10245-x.</a:t>
            </a:r>
          </a:p>
          <a:p>
            <a:r>
              <a:rPr lang="en-US" sz="1400" dirty="0">
                <a:latin typeface="Times New Roman" panose="02020603050405020304" pitchFamily="18" charset="0"/>
                <a:cs typeface="Times New Roman" panose="02020603050405020304" pitchFamily="18" charset="0"/>
              </a:rPr>
              <a:t>B. N. </a:t>
            </a:r>
            <a:r>
              <a:rPr lang="en-US" sz="1400" dirty="0" err="1">
                <a:latin typeface="Times New Roman" panose="02020603050405020304" pitchFamily="18" charset="0"/>
                <a:cs typeface="Times New Roman" panose="02020603050405020304" pitchFamily="18" charset="0"/>
              </a:rPr>
              <a:t>Fonkem</a:t>
            </a:r>
            <a:r>
              <a:rPr lang="en-US" sz="1400" dirty="0">
                <a:latin typeface="Times New Roman" panose="02020603050405020304" pitchFamily="18" charset="0"/>
                <a:cs typeface="Times New Roman" panose="02020603050405020304" pitchFamily="18" charset="0"/>
              </a:rPr>
              <a:t>, "AI-Powered Risk Scoring Models for Real-Time Fraud Detection in Digital Banking Ecosystems," Journal of Computational Analysis and Applications, vol. 34, no. 11, pp. 349–371, 2025.</a:t>
            </a:r>
          </a:p>
          <a:p>
            <a:r>
              <a:rPr lang="en-US" sz="1400" dirty="0">
                <a:latin typeface="Times New Roman" panose="02020603050405020304" pitchFamily="18" charset="0"/>
                <a:cs typeface="Times New Roman" panose="02020603050405020304" pitchFamily="18" charset="0"/>
              </a:rPr>
              <a:t>R. </a:t>
            </a:r>
            <a:r>
              <a:rPr lang="en-US" sz="1400" dirty="0" err="1">
                <a:latin typeface="Times New Roman" panose="02020603050405020304" pitchFamily="18" charset="0"/>
                <a:cs typeface="Times New Roman" panose="02020603050405020304" pitchFamily="18" charset="0"/>
              </a:rPr>
              <a:t>Disci</a:t>
            </a:r>
            <a:r>
              <a:rPr lang="en-US" sz="1400" dirty="0">
                <a:latin typeface="Times New Roman" panose="02020603050405020304" pitchFamily="18" charset="0"/>
                <a:cs typeface="Times New Roman" panose="02020603050405020304" pitchFamily="18" charset="0"/>
              </a:rPr>
              <a:t>, F. Gurcan, and A. Soylu, "Advanced Brain Tumor Classification in MR Images Using Transfer Learning and Pre-Trained Deep CNN Models," Cancers, vol. 17,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10.3390/cancers17010121.</a:t>
            </a:r>
          </a:p>
          <a:p>
            <a:r>
              <a:rPr lang="en-US" sz="1400" dirty="0">
                <a:latin typeface="Times New Roman" panose="02020603050405020304" pitchFamily="18" charset="0"/>
                <a:cs typeface="Times New Roman" panose="02020603050405020304" pitchFamily="18" charset="0"/>
              </a:rPr>
              <a:t>C. Patrício, J. Neves, and L. Teixeira, "Explainable Deep Learning Methods in Medical Image Classification: A Survey," ACM Computing Surveys, vol. 56, pp. 1–41, 2022.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10.1145/3625287.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97D12735-E87F-90B5-3528-847AEC26896C}"/>
            </a:ext>
          </a:extLst>
        </p:cNvPr>
        <p:cNvGrpSpPr/>
        <p:nvPr/>
      </p:nvGrpSpPr>
      <p:grpSpPr>
        <a:xfrm>
          <a:off x="0" y="0"/>
          <a:ext cx="0" cy="0"/>
          <a:chOff x="0" y="0"/>
          <a:chExt cx="0" cy="0"/>
        </a:xfrm>
      </p:grpSpPr>
      <p:sp>
        <p:nvSpPr>
          <p:cNvPr id="218" name="Google Shape;218;p37">
            <a:extLst>
              <a:ext uri="{FF2B5EF4-FFF2-40B4-BE49-F238E27FC236}">
                <a16:creationId xmlns:a16="http://schemas.microsoft.com/office/drawing/2014/main" id="{231BCA3D-F5FB-E464-43FA-9FA4768BDEF4}"/>
              </a:ext>
            </a:extLst>
          </p:cNvPr>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19" name="Google Shape;219;p37">
            <a:extLst>
              <a:ext uri="{FF2B5EF4-FFF2-40B4-BE49-F238E27FC236}">
                <a16:creationId xmlns:a16="http://schemas.microsoft.com/office/drawing/2014/main" id="{41B536E4-816D-A7E1-233A-30D10D032B2E}"/>
              </a:ext>
            </a:extLst>
          </p:cNvPr>
          <p:cNvSpPr txBox="1">
            <a:spLocks noGrp="1"/>
          </p:cNvSpPr>
          <p:nvPr>
            <p:ph type="body" idx="1"/>
          </p:nvPr>
        </p:nvSpPr>
        <p:spPr>
          <a:xfrm>
            <a:off x="311700" y="1008779"/>
            <a:ext cx="8520600" cy="3416400"/>
          </a:xfrm>
          <a:prstGeom prst="rect">
            <a:avLst/>
          </a:prstGeom>
          <a:noFill/>
          <a:ln>
            <a:noFill/>
          </a:ln>
        </p:spPr>
        <p:txBody>
          <a:bodyPr spcFirstLastPara="1" wrap="square" lIns="91425" tIns="91425" rIns="91425" bIns="91425" anchor="t" anchorCtr="0">
            <a:noAutofit/>
          </a:bodyPr>
          <a:lstStyle/>
          <a:p>
            <a:r>
              <a:rPr lang="en-US" sz="1400" dirty="0">
                <a:latin typeface="Times New Roman" panose="02020603050405020304" pitchFamily="18" charset="0"/>
                <a:cs typeface="Times New Roman" panose="02020603050405020304" pitchFamily="18" charset="0"/>
              </a:rPr>
              <a:t>R. Missaoui, W. Hechkel, W. Saadaoui, A. </a:t>
            </a:r>
            <a:r>
              <a:rPr lang="en-US" sz="1400" dirty="0" err="1">
                <a:latin typeface="Times New Roman" panose="02020603050405020304" pitchFamily="18" charset="0"/>
                <a:cs typeface="Times New Roman" panose="02020603050405020304" pitchFamily="18" charset="0"/>
              </a:rPr>
              <a:t>Helali</a:t>
            </a:r>
            <a:r>
              <a:rPr lang="en-US" sz="1400" dirty="0">
                <a:latin typeface="Times New Roman" panose="02020603050405020304" pitchFamily="18" charset="0"/>
                <a:cs typeface="Times New Roman" panose="02020603050405020304" pitchFamily="18" charset="0"/>
              </a:rPr>
              <a:t>, and M. Leo, "Advanced Deep Learning and Machine Learning Techniques for MRI Brain Tumor Analysis: A Review," Sensors, vol. 25,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10.3390/s25092746.</a:t>
            </a:r>
          </a:p>
          <a:p>
            <a:r>
              <a:rPr lang="en-US" sz="1400" dirty="0">
                <a:latin typeface="Times New Roman" panose="02020603050405020304" pitchFamily="18" charset="0"/>
                <a:cs typeface="Times New Roman" panose="02020603050405020304" pitchFamily="18" charset="0"/>
              </a:rPr>
              <a:t>A. Sabry, K. </a:t>
            </a:r>
            <a:r>
              <a:rPr lang="en-US" sz="1400" dirty="0" err="1">
                <a:latin typeface="Times New Roman" panose="02020603050405020304" pitchFamily="18" charset="0"/>
                <a:cs typeface="Times New Roman" panose="02020603050405020304" pitchFamily="18" charset="0"/>
              </a:rPr>
              <a:t>Alazm</a:t>
            </a:r>
            <a:r>
              <a:rPr lang="en-US" sz="1400" dirty="0">
                <a:latin typeface="Times New Roman" panose="02020603050405020304" pitchFamily="18" charset="0"/>
                <a:cs typeface="Times New Roman" panose="02020603050405020304" pitchFamily="18" charset="0"/>
              </a:rPr>
              <a:t>, M. Saad, and T. Nassef, "Comparative Analysis of Traditional Machine Learning and Deep Learning Techniques for Brain Tumor Identification in MRI Data," in 2025 Intelligent Methods, Systems, and Applications (IMSA), pp. 604–609,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10.1109/imsa65733.2025.11167683.</a:t>
            </a:r>
          </a:p>
          <a:p>
            <a:r>
              <a:rPr lang="en-US" sz="1400" dirty="0">
                <a:latin typeface="Times New Roman" panose="02020603050405020304" pitchFamily="18" charset="0"/>
                <a:cs typeface="Times New Roman" panose="02020603050405020304" pitchFamily="18" charset="0"/>
              </a:rPr>
              <a:t>J. Kang, Z. Ullah, and J. Gwak, "MRI-Based Brain Tumor Classification Using Ensemble of Deep Features and Machine Learning Classifiers," Sensors, vol. 21, 2021.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10.3390/s21062222.</a:t>
            </a:r>
          </a:p>
          <a:p>
            <a:r>
              <a:rPr lang="en-US" sz="1400" dirty="0">
                <a:latin typeface="Times New Roman" panose="02020603050405020304" pitchFamily="18" charset="0"/>
                <a:cs typeface="Times New Roman" panose="02020603050405020304" pitchFamily="18" charset="0"/>
              </a:rPr>
              <a:t>S. Moldovanu, G. Tabacaru, and M. Barbu, "Convolutional Neural Network–Machine Learning Model: Hybrid Model for Meningioma </a:t>
            </a:r>
            <a:r>
              <a:rPr lang="en-US" sz="1400" dirty="0" err="1">
                <a:latin typeface="Times New Roman" panose="02020603050405020304" pitchFamily="18" charset="0"/>
                <a:cs typeface="Times New Roman" panose="02020603050405020304" pitchFamily="18" charset="0"/>
              </a:rPr>
              <a:t>Tumour</a:t>
            </a:r>
            <a:r>
              <a:rPr lang="en-US" sz="1400" dirty="0">
                <a:latin typeface="Times New Roman" panose="02020603050405020304" pitchFamily="18" charset="0"/>
                <a:cs typeface="Times New Roman" panose="02020603050405020304" pitchFamily="18" charset="0"/>
              </a:rPr>
              <a:t> and Healthy Brain Classification," Journal of Imaging, vol. 10, 2024.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10.3390/jimaging10090235.</a:t>
            </a:r>
          </a:p>
          <a:p>
            <a:r>
              <a:rPr lang="en-US" sz="1400" dirty="0">
                <a:latin typeface="Times New Roman" panose="02020603050405020304" pitchFamily="18" charset="0"/>
                <a:cs typeface="Times New Roman" panose="02020603050405020304" pitchFamily="18" charset="0"/>
              </a:rPr>
              <a:t>S. </a:t>
            </a:r>
            <a:r>
              <a:rPr lang="en-US" sz="1400" dirty="0" err="1">
                <a:latin typeface="Times New Roman" panose="02020603050405020304" pitchFamily="18" charset="0"/>
                <a:cs typeface="Times New Roman" panose="02020603050405020304" pitchFamily="18" charset="0"/>
              </a:rPr>
              <a:t>Elhadad</a:t>
            </a:r>
            <a:r>
              <a:rPr lang="en-US" sz="1400" dirty="0">
                <a:latin typeface="Times New Roman" panose="02020603050405020304" pitchFamily="18" charset="0"/>
                <a:cs typeface="Times New Roman" panose="02020603050405020304" pitchFamily="18" charset="0"/>
              </a:rPr>
              <a:t> and M. Saad, "Enhancing Brain Tumor Diagnosis: Comparative Analysis of Random Forest and Support Vector Machine for Brain Tumor </a:t>
            </a:r>
            <a:r>
              <a:rPr lang="en-US" sz="1400" dirty="0" err="1">
                <a:latin typeface="Times New Roman" panose="02020603050405020304" pitchFamily="18" charset="0"/>
                <a:cs typeface="Times New Roman" panose="02020603050405020304" pitchFamily="18" charset="0"/>
              </a:rPr>
              <a:t>Mri</a:t>
            </a:r>
            <a:r>
              <a:rPr lang="en-US" sz="1400" dirty="0">
                <a:latin typeface="Times New Roman" panose="02020603050405020304" pitchFamily="18" charset="0"/>
                <a:cs typeface="Times New Roman" panose="02020603050405020304" pitchFamily="18" charset="0"/>
              </a:rPr>
              <a:t> Classification," in 2025 International Mobile, Intelligent, and Ubiquitous Computing Conference (MIUCC), pp. 354–359,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10.1109/miucc66482.2025.1119683.</a:t>
            </a:r>
          </a:p>
        </p:txBody>
      </p:sp>
    </p:spTree>
    <p:extLst>
      <p:ext uri="{BB962C8B-B14F-4D97-AF65-F5344CB8AC3E}">
        <p14:creationId xmlns:p14="http://schemas.microsoft.com/office/powerpoint/2010/main" val="292517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52513A64-C4D0-B16C-BB9E-4EDB8B8B9FE9}"/>
            </a:ext>
          </a:extLst>
        </p:cNvPr>
        <p:cNvGrpSpPr/>
        <p:nvPr/>
      </p:nvGrpSpPr>
      <p:grpSpPr>
        <a:xfrm>
          <a:off x="0" y="0"/>
          <a:ext cx="0" cy="0"/>
          <a:chOff x="0" y="0"/>
          <a:chExt cx="0" cy="0"/>
        </a:xfrm>
      </p:grpSpPr>
      <p:sp>
        <p:nvSpPr>
          <p:cNvPr id="218" name="Google Shape;218;p37">
            <a:extLst>
              <a:ext uri="{FF2B5EF4-FFF2-40B4-BE49-F238E27FC236}">
                <a16:creationId xmlns:a16="http://schemas.microsoft.com/office/drawing/2014/main" id="{ECDFB922-0145-CC98-F5A1-C993DFB01B79}"/>
              </a:ext>
            </a:extLst>
          </p:cNvPr>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19" name="Google Shape;219;p37">
            <a:extLst>
              <a:ext uri="{FF2B5EF4-FFF2-40B4-BE49-F238E27FC236}">
                <a16:creationId xmlns:a16="http://schemas.microsoft.com/office/drawing/2014/main" id="{2FB0C59D-AE2F-2C03-4137-7A2478D80AA9}"/>
              </a:ext>
            </a:extLst>
          </p:cNvPr>
          <p:cNvSpPr txBox="1">
            <a:spLocks noGrp="1"/>
          </p:cNvSpPr>
          <p:nvPr>
            <p:ph type="body" idx="1"/>
          </p:nvPr>
        </p:nvSpPr>
        <p:spPr>
          <a:xfrm>
            <a:off x="311700" y="1017650"/>
            <a:ext cx="8520600" cy="3546000"/>
          </a:xfrm>
          <a:prstGeom prst="rect">
            <a:avLst/>
          </a:prstGeom>
          <a:noFill/>
          <a:ln>
            <a:noFill/>
          </a:ln>
        </p:spPr>
        <p:txBody>
          <a:bodyPr spcFirstLastPara="1" wrap="square" lIns="91425" tIns="91425" rIns="91425" bIns="91425" anchor="t" anchorCtr="0">
            <a:noAutofit/>
          </a:bodyPr>
          <a:lstStyle/>
          <a:p>
            <a:r>
              <a:rPr lang="en-US" sz="1400" dirty="0">
                <a:latin typeface="Times New Roman" panose="02020603050405020304" pitchFamily="18" charset="0"/>
                <a:cs typeface="Times New Roman" panose="02020603050405020304" pitchFamily="18" charset="0"/>
              </a:rPr>
              <a:t>M. Panahi, M. Hosseini, and S. Aghamiri, "Impact of image preprocessing methods on MRI radiomics feature variability and classification performance in Parkinson’s disease motor subtype analysis," Scientific Reports, vol. 15,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10.1038/s41598-025-23702-8.</a:t>
            </a:r>
          </a:p>
          <a:p>
            <a:r>
              <a:rPr lang="en-US" sz="1400" dirty="0">
                <a:latin typeface="Times New Roman" panose="02020603050405020304" pitchFamily="18" charset="0"/>
                <a:cs typeface="Times New Roman" panose="02020603050405020304" pitchFamily="18" charset="0"/>
              </a:rPr>
              <a:t>A. Asiri, T. Soomro, A. Shah, G. </a:t>
            </a:r>
            <a:r>
              <a:rPr lang="en-US" sz="1400" dirty="0" err="1">
                <a:latin typeface="Times New Roman" panose="02020603050405020304" pitchFamily="18" charset="0"/>
                <a:cs typeface="Times New Roman" panose="02020603050405020304" pitchFamily="18" charset="0"/>
              </a:rPr>
              <a:t>Pogrebna</a:t>
            </a:r>
            <a:r>
              <a:rPr lang="en-US" sz="1400" dirty="0">
                <a:latin typeface="Times New Roman" panose="02020603050405020304" pitchFamily="18" charset="0"/>
                <a:cs typeface="Times New Roman" panose="02020603050405020304" pitchFamily="18" charset="0"/>
              </a:rPr>
              <a:t>, M. Irfan, and S. Alqahtani, "Optimized Brain Tumor Detection: A Dual-Module Approach for MRI Image Enhancement and Tumor Classification," IEEE Access, vol. 12, pp. 42868–42887, 2024.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10.1109/access.2024.3379136.</a:t>
            </a:r>
          </a:p>
          <a:p>
            <a:r>
              <a:rPr lang="en-US" sz="1400" dirty="0">
                <a:latin typeface="Times New Roman" panose="02020603050405020304" pitchFamily="18" charset="0"/>
                <a:cs typeface="Times New Roman" panose="02020603050405020304" pitchFamily="18" charset="0"/>
              </a:rPr>
              <a:t>R. Syah and I. </a:t>
            </a:r>
            <a:r>
              <a:rPr lang="en-US" sz="1400" dirty="0" err="1">
                <a:latin typeface="Times New Roman" panose="02020603050405020304" pitchFamily="18" charset="0"/>
                <a:cs typeface="Times New Roman" panose="02020603050405020304" pitchFamily="18" charset="0"/>
              </a:rPr>
              <a:t>Kautsar</a:t>
            </a:r>
            <a:r>
              <a:rPr lang="en-US" sz="1400" dirty="0">
                <a:latin typeface="Times New Roman" panose="02020603050405020304" pitchFamily="18" charset="0"/>
                <a:cs typeface="Times New Roman" panose="02020603050405020304" pitchFamily="18" charset="0"/>
              </a:rPr>
              <a:t>, "Preprocessing-Driven Performance Variations in CNN-Based Brain Tumor Classification: Enhanced vs. Fast vs. Standard Approaches," in 2025 15th International Conference on Information &amp; Communication Technology and System (ICTS), pp. 1–5, 2025.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10.1109/icts67612.2025.11369641.</a:t>
            </a:r>
          </a:p>
          <a:p>
            <a:r>
              <a:rPr lang="en-US" sz="1400" dirty="0">
                <a:latin typeface="Times New Roman" panose="02020603050405020304" pitchFamily="18" charset="0"/>
                <a:cs typeface="Times New Roman" panose="02020603050405020304" pitchFamily="18" charset="0"/>
              </a:rPr>
              <a:t>E. </a:t>
            </a:r>
            <a:r>
              <a:rPr lang="en-US" sz="1400" dirty="0" err="1">
                <a:latin typeface="Times New Roman" panose="02020603050405020304" pitchFamily="18" charset="0"/>
                <a:cs typeface="Times New Roman" panose="02020603050405020304" pitchFamily="18" charset="0"/>
              </a:rPr>
              <a:t>Göçeri</a:t>
            </a:r>
            <a:r>
              <a:rPr lang="en-US" sz="1400" dirty="0">
                <a:latin typeface="Times New Roman" panose="02020603050405020304" pitchFamily="18" charset="0"/>
                <a:cs typeface="Times New Roman" panose="02020603050405020304" pitchFamily="18" charset="0"/>
              </a:rPr>
              <a:t>, "Medical image data augmentation: techniques, comparisons and interpretations," Artificial Intelligence Review, pp. 1–45, 2023.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10.1007/s10462-023-10453-z.</a:t>
            </a:r>
          </a:p>
          <a:p>
            <a:r>
              <a:rPr lang="en-US" sz="1400" dirty="0">
                <a:latin typeface="Times New Roman" panose="02020603050405020304" pitchFamily="18" charset="0"/>
                <a:cs typeface="Times New Roman" panose="02020603050405020304" pitchFamily="18" charset="0"/>
              </a:rPr>
              <a:t>Y. Xie et al., "Convolutional Neural Network Techniques for Brain Tumor Classification (from 2015 to 2022): Review, Challenges, and Future Perspectives," Diagnostics, vol. 12, 2022.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10.3390/diagnostics12081850.</a:t>
            </a:r>
          </a:p>
          <a:p>
            <a:r>
              <a:rPr lang="en-US" sz="1400" dirty="0">
                <a:latin typeface="Times New Roman" panose="02020603050405020304" pitchFamily="18" charset="0"/>
                <a:cs typeface="Times New Roman" panose="02020603050405020304" pitchFamily="18" charset="0"/>
              </a:rPr>
              <a:t>Kaggle Brain Tumors Dataset, </a:t>
            </a:r>
            <a:r>
              <a:rPr lang="en-US" sz="14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https://www.kaggle.com/datasets/mohammadhossein77/brain-tumors-dataset</a:t>
            </a:r>
            <a:r>
              <a:rPr lang="en-US" sz="1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32121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8"/>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Acknowledgment</a:t>
            </a:r>
            <a:endParaRPr dirty="0">
              <a:latin typeface="Times New Roman" panose="02020603050405020304" pitchFamily="18" charset="0"/>
              <a:cs typeface="Times New Roman" panose="02020603050405020304" pitchFamily="18" charset="0"/>
            </a:endParaRPr>
          </a:p>
        </p:txBody>
      </p:sp>
      <p:sp>
        <p:nvSpPr>
          <p:cNvPr id="225" name="Google Shape;225;p3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Institutional support:</a:t>
            </a:r>
            <a:r>
              <a:rPr lang="en-US" dirty="0">
                <a:latin typeface="Times New Roman" panose="02020603050405020304" pitchFamily="18" charset="0"/>
                <a:cs typeface="Times New Roman" panose="02020603050405020304" pitchFamily="18" charset="0"/>
              </a:rPr>
              <a:t> Department of Computer Science, CHRIST (Deemed to be University), Bengaluru, India.</a:t>
            </a:r>
          </a:p>
          <a:p>
            <a:r>
              <a:rPr lang="en-US" b="1" dirty="0">
                <a:latin typeface="Times New Roman" panose="02020603050405020304" pitchFamily="18" charset="0"/>
                <a:cs typeface="Times New Roman" panose="02020603050405020304" pitchFamily="18" charset="0"/>
              </a:rPr>
              <a:t>Contributors:</a:t>
            </a:r>
            <a:r>
              <a:rPr lang="en-US" dirty="0">
                <a:latin typeface="Times New Roman" panose="02020603050405020304" pitchFamily="18" charset="0"/>
                <a:cs typeface="Times New Roman" panose="02020603050405020304" pitchFamily="18" charset="0"/>
              </a:rPr>
              <a:t> Tisha Chhabra, Kamal Upreti, Varuna Gupta.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9"/>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r>
              <a:rPr lang="en" dirty="0">
                <a:latin typeface="Times New Roman" panose="02020603050405020304" pitchFamily="18" charset="0"/>
                <a:cs typeface="Times New Roman" panose="02020603050405020304" pitchFamily="18" charset="0"/>
              </a:rPr>
              <a:t>Contact Information</a:t>
            </a:r>
            <a:endParaRPr dirty="0">
              <a:latin typeface="Times New Roman" panose="02020603050405020304" pitchFamily="18" charset="0"/>
              <a:cs typeface="Times New Roman" panose="02020603050405020304" pitchFamily="18" charset="0"/>
            </a:endParaRPr>
          </a:p>
        </p:txBody>
      </p:sp>
      <p:sp>
        <p:nvSpPr>
          <p:cNvPr id="231" name="Google Shape;231;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Presenter name:</a:t>
            </a:r>
            <a:r>
              <a:rPr lang="en-US" dirty="0">
                <a:latin typeface="Times New Roman" panose="02020603050405020304" pitchFamily="18" charset="0"/>
                <a:cs typeface="Times New Roman" panose="02020603050405020304" pitchFamily="18" charset="0"/>
              </a:rPr>
              <a:t> Tisha Chhabra</a:t>
            </a:r>
          </a:p>
          <a:p>
            <a:r>
              <a:rPr lang="en-US" b="1" dirty="0">
                <a:latin typeface="Times New Roman" panose="02020603050405020304" pitchFamily="18" charset="0"/>
                <a:cs typeface="Times New Roman" panose="02020603050405020304" pitchFamily="18" charset="0"/>
              </a:rPr>
              <a:t>Affiliation:</a:t>
            </a:r>
            <a:r>
              <a:rPr lang="en-US" dirty="0">
                <a:latin typeface="Times New Roman" panose="02020603050405020304" pitchFamily="18" charset="0"/>
                <a:cs typeface="Times New Roman" panose="02020603050405020304" pitchFamily="18" charset="0"/>
              </a:rPr>
              <a:t> CHRIST University, Bengaluru, India</a:t>
            </a:r>
          </a:p>
          <a:p>
            <a:r>
              <a:rPr lang="en-US" b="1" dirty="0">
                <a:latin typeface="Times New Roman" panose="02020603050405020304" pitchFamily="18" charset="0"/>
                <a:cs typeface="Times New Roman" panose="02020603050405020304" pitchFamily="18" charset="0"/>
              </a:rPr>
              <a:t>Email:</a:t>
            </a:r>
            <a:r>
              <a:rPr lang="en-US" dirty="0">
                <a:latin typeface="Times New Roman" panose="02020603050405020304" pitchFamily="18" charset="0"/>
                <a:cs typeface="Times New Roman" panose="02020603050405020304" pitchFamily="18" charset="0"/>
              </a:rPr>
              <a:t> Chhabratisha9@gmail.com / kamalupreti1989@gmail.com / </a:t>
            </a:r>
            <a:r>
              <a:rPr lang="en-US" dirty="0" err="1">
                <a:latin typeface="Times New Roman" panose="02020603050405020304" pitchFamily="18" charset="0"/>
                <a:cs typeface="Times New Roman" panose="02020603050405020304" pitchFamily="18" charset="0"/>
              </a:rPr>
              <a:t>varunagupta.cs@gmail.com</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Website: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www.linkedin.com</a:t>
            </a:r>
            <a:r>
              <a:rPr lang="en-US" dirty="0">
                <a:latin typeface="Times New Roman" panose="02020603050405020304" pitchFamily="18" charset="0"/>
                <a:cs typeface="Times New Roman" panose="02020603050405020304" pitchFamily="18" charset="0"/>
              </a:rPr>
              <a:t>/in/tisha-chhabra23/</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1794</Words>
  <Application>Microsoft Macintosh PowerPoint</Application>
  <PresentationFormat>On-screen Show (16:9)</PresentationFormat>
  <Paragraphs>102</Paragraphs>
  <Slides>19</Slides>
  <Notes>19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Archivo Narrow</vt:lpstr>
      <vt:lpstr>Arial</vt:lpstr>
      <vt:lpstr>Georgia</vt:lpstr>
      <vt:lpstr>Times New Roman</vt:lpstr>
      <vt:lpstr>Simple Light</vt:lpstr>
      <vt:lpstr>Simple Light</vt:lpstr>
      <vt:lpstr>PowerPoint Presentation</vt:lpstr>
      <vt:lpstr>PowerPoint Presentation</vt:lpstr>
      <vt:lpstr>Abstract</vt:lpstr>
      <vt:lpstr>Introduction</vt:lpstr>
      <vt:lpstr>Literature Review</vt:lpstr>
      <vt:lpstr>Problem Statement</vt:lpstr>
      <vt:lpstr>Objectives</vt:lpstr>
      <vt:lpstr>Proposed Methodology</vt:lpstr>
      <vt:lpstr>Methodology Diagram</vt:lpstr>
      <vt:lpstr>Experimental Setup</vt:lpstr>
      <vt:lpstr>Results</vt:lpstr>
      <vt:lpstr>Discussion</vt:lpstr>
      <vt:lpstr>Conclusion</vt:lpstr>
      <vt:lpstr>Future Work</vt:lpstr>
      <vt:lpstr>References</vt:lpstr>
      <vt:lpstr>References</vt:lpstr>
      <vt:lpstr>References</vt:lpstr>
      <vt:lpstr>Acknowledgment</vt:lpstr>
      <vt:lpstr>Contact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Vishal Singh</cp:lastModifiedBy>
  <cp:revision>5</cp:revision>
  <dcterms:modified xsi:type="dcterms:W3CDTF">2026-08-26T06:17:58Z</dcterms:modified>
</cp:coreProperties>
</file>